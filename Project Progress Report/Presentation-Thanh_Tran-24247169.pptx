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handoutMasterIdLst>
    <p:handoutMasterId r:id="rId27"/>
  </p:handoutMasterIdLst>
  <p:sldIdLst>
    <p:sldId id="256" r:id="rId5"/>
    <p:sldId id="257" r:id="rId6"/>
    <p:sldId id="262" r:id="rId7"/>
    <p:sldId id="264" r:id="rId8"/>
    <p:sldId id="265" r:id="rId9"/>
    <p:sldId id="258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DB1835-1FEC-ED13-6F0E-09062B88F8B6}" v="163" dt="2025-08-26T22:46:38.622"/>
    <p1510:client id="{34A50299-920A-4CA0-95ED-7EC62F44D0A2}" v="1165" dt="2025-08-27T00:42:23.697"/>
    <p1510:client id="{4E7B283B-2D77-8C6E-8F83-552AC386444B}" v="13" dt="2025-08-26T06:26:34.923"/>
    <p1510:client id="{7343F435-0590-C029-E02A-1879923E0E24}" v="882" dt="2025-08-26T11:52:15.960"/>
    <p1510:client id="{825438F4-5B25-78F5-03AA-49B42AA5BCE7}" v="207" dt="2025-08-26T08:29:00.022"/>
    <p1510:client id="{846AD76E-3272-E299-CBD2-20DAFFB1692C}" v="4" dt="2025-08-26T23:28:14.011"/>
    <p1510:client id="{896A5AD2-86FB-EE43-B5B2-0C58CE853F25}" v="579" dt="2025-08-27T05:07:48.994"/>
    <p1510:client id="{B2A9102C-D049-4CC9-97CA-D9598E442441}" v="758" dt="2025-08-27T05:00:09.058"/>
    <p1510:client id="{CE8B6F48-1DA2-15E9-279B-F8AAFABB1163}" v="125" dt="2025-08-26T09:50:52.182"/>
    <p1510:client id="{D0063126-A9A7-4164-546C-2A9A547E27C4}" v="57" dt="2025-08-26T09:01:18.774"/>
    <p1510:client id="{EB5E083F-25FA-4D7A-A5EA-33AEA31553ED}" v="2631" dt="2025-08-26T12:40:16.323"/>
  </p1510:revLst>
</p1510:revInfo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712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976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D48E808-F8DD-3D33-0C47-AAD6B35DB0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4147D5-76C1-0291-0435-E7AD4C59EE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AE45E5-4D69-3745-9E11-C5571AB5246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E3B9E7-567D-E404-C886-86554170702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D70A9-1994-35D8-16F0-CFAB9A1518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0A9EB7-9376-0A4F-8391-A4EA1FCBC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781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4E818-92A2-40C1-BAD4-E2914CACAA52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E5F625-7DDC-48BD-B69C-B97F1D5B5DC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0231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5F625-7DDC-48BD-B69C-B97F1D5B5DC0}" type="slidenum">
              <a:rPr lang="en-NZ" smtClean="0"/>
              <a:t>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94183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6D0-81AC-4326-898E-366FD1020086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470F8D0-A148-4D9D-812E-F3AB4DB67BF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89108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6D0-81AC-4326-898E-366FD1020086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0F8D0-A148-4D9D-812E-F3AB4DB67BF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25804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6D0-81AC-4326-898E-366FD1020086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470F8D0-A148-4D9D-812E-F3AB4DB67BF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8472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6D0-81AC-4326-898E-366FD1020086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470F8D0-A148-4D9D-812E-F3AB4DB67BF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11805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6D0-81AC-4326-898E-366FD1020086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470F8D0-A148-4D9D-812E-F3AB4DB67BF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05992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6D0-81AC-4326-898E-366FD1020086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0F8D0-A148-4D9D-812E-F3AB4DB67BF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65671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6D0-81AC-4326-898E-366FD1020086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0F8D0-A148-4D9D-812E-F3AB4DB67BF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60960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6D0-81AC-4326-898E-366FD1020086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0F8D0-A148-4D9D-812E-F3AB4DB67BF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41183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6D0-81AC-4326-898E-366FD1020086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470F8D0-A148-4D9D-812E-F3AB4DB67BF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31399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6D0-81AC-4326-898E-366FD1020086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470F8D0-A148-4D9D-812E-F3AB4DB67BF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87365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6D0-81AC-4326-898E-366FD1020086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470F8D0-A148-4D9D-812E-F3AB4DB67BFC}" type="slidenum">
              <a:rPr lang="en-NZ" smtClean="0"/>
              <a:t>‹#›</a:t>
            </a:fld>
            <a:endParaRPr lang="en-NZ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30128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6D0-81AC-4326-898E-366FD1020086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470F8D0-A148-4D9D-812E-F3AB4DB67BF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08264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6D0-81AC-4326-898E-366FD1020086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470F8D0-A148-4D9D-812E-F3AB4DB67BFC}" type="slidenum">
              <a:rPr lang="en-NZ" smtClean="0"/>
              <a:t>‹#›</a:t>
            </a:fld>
            <a:endParaRPr lang="en-NZ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22580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6D0-81AC-4326-898E-366FD1020086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470F8D0-A148-4D9D-812E-F3AB4DB67BF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61234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6D0-81AC-4326-898E-366FD1020086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0F8D0-A148-4D9D-812E-F3AB4DB67BF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699901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B6D0-81AC-4326-898E-366FD1020086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0F8D0-A148-4D9D-812E-F3AB4DB67BF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51276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7B6D0-81AC-4326-898E-366FD1020086}" type="datetimeFigureOut">
              <a:rPr lang="en-NZ" smtClean="0"/>
              <a:t>19/04/2026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470F8D0-A148-4D9D-812E-F3AB4DB67BF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8986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E3A5A-3F7F-4506-2AE0-98954C36B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340426"/>
          </a:xfrm>
        </p:spPr>
        <p:txBody>
          <a:bodyPr anchor="ctr">
            <a:normAutofit/>
          </a:bodyPr>
          <a:lstStyle/>
          <a:p>
            <a:pPr algn="ctr"/>
            <a:r>
              <a:rPr lang="en-NZ" sz="4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ENSE706 - Data Process and Software Modelling</a:t>
            </a:r>
            <a:br>
              <a:rPr lang="en-NZ" sz="4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NZ" sz="4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NZ" sz="48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 Phase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A9966-8154-D810-3F81-347EE49BA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55752" y="5636535"/>
            <a:ext cx="3453319" cy="993754"/>
          </a:xfrm>
        </p:spPr>
        <p:txBody>
          <a:bodyPr anchor="ctr">
            <a:normAutofit/>
          </a:bodyPr>
          <a:lstStyle/>
          <a:p>
            <a:pPr algn="l"/>
            <a:r>
              <a:rPr lang="en-NZ" noProof="0" dirty="0">
                <a:solidFill>
                  <a:schemeClr val="tx1"/>
                </a:solidFill>
                <a:latin typeface="Aptos Slab SemiBold" panose="020F0502020204030204" pitchFamily="34" charset="0"/>
                <a:cs typeface="Arabic Typesetting" panose="020F0502020204030204" pitchFamily="66" charset="-78"/>
              </a:rPr>
              <a:t>Presented by Thanh Tran</a:t>
            </a:r>
          </a:p>
        </p:txBody>
      </p:sp>
    </p:spTree>
    <p:extLst>
      <p:ext uri="{BB962C8B-B14F-4D97-AF65-F5344CB8AC3E}">
        <p14:creationId xmlns:p14="http://schemas.microsoft.com/office/powerpoint/2010/main" val="2540463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C9141-C5E0-5C3F-C127-F10FAE8A2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163862"/>
            <a:ext cx="9864456" cy="1280890"/>
          </a:xfrm>
        </p:spPr>
        <p:txBody>
          <a:bodyPr>
            <a:normAutofit/>
          </a:bodyPr>
          <a:lstStyle/>
          <a:p>
            <a:r>
              <a:rPr lang="en-NZ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Selected organisation – AUT</a:t>
            </a:r>
            <a:endParaRPr lang="en-NZ" sz="40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03874-6349-9244-5B5A-54B24369E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207008"/>
            <a:ext cx="9864456" cy="555955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Auckland University of Technology (AUT), a public university in New Zealand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Established in 2000; one of the largest tertiary institutions in NZ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26,708 students and 4,046 staff in 2025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Operates across multiple campuses with a wide range of </a:t>
            </a:r>
            <a:r>
              <a:rPr 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programmes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Large-scale and complex </a:t>
            </a:r>
            <a:r>
              <a:rPr 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organisational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structure</a:t>
            </a:r>
            <a:endParaRPr lang="en-NZ" sz="24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606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32862-28D6-6DFF-CD43-9CC543B83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1F3A6-22F1-8D27-4DD6-15E2FF9F9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163862"/>
            <a:ext cx="9864456" cy="1280890"/>
          </a:xfrm>
        </p:spPr>
        <p:txBody>
          <a:bodyPr>
            <a:normAutofit/>
          </a:bodyPr>
          <a:lstStyle/>
          <a:p>
            <a:r>
              <a:rPr lang="en-NZ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departments</a:t>
            </a:r>
            <a:endParaRPr lang="en-NZ" sz="40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0B87B-F276-F4C9-7EE5-49D5610E9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207008"/>
            <a:ext cx="9864456" cy="555955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Academic Departments (Faculties):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delivery, curriculum, research (5 faculties, 15 schools)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Services: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Enrolment support, counselling, academic and career advice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Academic Registry: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Manages enrolments, records, timetables, graduation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Department: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infrastructure, authentication, cybersecurity, system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Finance Department: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Fees, budgeting, procurement, financial reporting</a:t>
            </a:r>
            <a:endParaRPr lang="en-NZ" sz="24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260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285C2-5B60-3BFF-F35C-9FCA281A3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AA3F5-389F-E3F9-0C8A-89B9137F0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163862"/>
            <a:ext cx="9864456" cy="1280890"/>
          </a:xfrm>
        </p:spPr>
        <p:txBody>
          <a:bodyPr>
            <a:normAutofit/>
          </a:bodyPr>
          <a:lstStyle/>
          <a:p>
            <a:r>
              <a:rPr lang="en-NZ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system</a:t>
            </a:r>
            <a:endParaRPr lang="en-NZ" sz="40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FE0B7-10B5-74DA-12FC-6ED55ACAB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207008"/>
            <a:ext cx="9864456" cy="5559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Departments require coordinated information systems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key systems: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Enrolment System (focus of this project)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Information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Information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Finance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HR System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Highlights need for integrated and efficient system support</a:t>
            </a:r>
            <a:endParaRPr lang="en-NZ" sz="24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669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17C1B-1428-4511-DA9E-DC8C87150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611E4-A2D5-3F0F-19D5-8E29CF763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163862"/>
            <a:ext cx="9864456" cy="1280890"/>
          </a:xfrm>
        </p:spPr>
        <p:txBody>
          <a:bodyPr>
            <a:normAutofit/>
          </a:bodyPr>
          <a:lstStyle/>
          <a:p>
            <a:r>
              <a:rPr lang="en-NZ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NZ" sz="40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558BB-04A6-DB3B-CD67-A5E974641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207008"/>
            <a:ext cx="9864456" cy="555955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AUT enrolment process is manual and paper-based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Causes issues such as: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Lost or misplaced enrolment forms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 prerequisite checking errors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Delays in enrolment approval (peak periods)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Difficulty tracking course capacity and student progress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Inconsistent data and poor inter-department coordination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for a Course Enrolment System to improve efficiency, accuracy, and accessibility</a:t>
            </a:r>
            <a:endParaRPr lang="en-NZ" sz="24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846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D8376-B550-67E5-C165-91954EDB2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8A269-10DC-041F-02CE-1A002694A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163862"/>
            <a:ext cx="9864456" cy="1280890"/>
          </a:xfrm>
        </p:spPr>
        <p:txBody>
          <a:bodyPr>
            <a:normAutofit/>
          </a:bodyPr>
          <a:lstStyle/>
          <a:p>
            <a:r>
              <a:rPr lang="en-NZ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Requirements &amp; Integration</a:t>
            </a:r>
            <a:endParaRPr lang="en-NZ" sz="40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05517-AA3F-73B6-EE16-409DFF5AE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207008"/>
            <a:ext cx="9864456" cy="555955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NZ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Web-based system for course search, enrolment, and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Integrates with: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NZ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Information System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NZ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Information System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NZ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HR System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NZ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Finance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NZ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NZ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Domestic and international students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NZ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Timetable clash detection and visualisation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NZ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Prerequisite and capacity validation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NZ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Real-time enrolment status updates</a:t>
            </a:r>
            <a:endParaRPr lang="en-NZ" sz="22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663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949A5-EB20-5778-58C1-47BBAB3F4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D5DDC-E6B4-CDB8-2E51-314DED1F9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163862"/>
            <a:ext cx="9864456" cy="1280890"/>
          </a:xfrm>
        </p:spPr>
        <p:txBody>
          <a:bodyPr>
            <a:normAutofit/>
          </a:bodyPr>
          <a:lstStyle/>
          <a:p>
            <a:r>
              <a:rPr lang="en-NZ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Stakeholders / User Roles</a:t>
            </a:r>
            <a:endParaRPr lang="en-NZ" sz="40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6DA8E-FA1E-1F9B-73B5-6CF9FCE09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207008"/>
            <a:ext cx="9864456" cy="555955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Students: 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 courses, view timetable, </a:t>
            </a:r>
            <a:r>
              <a:rPr 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enrol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manage requests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Academic department staff: 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 course details and updates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Academic registry staff: 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approve/reject enrolments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Finance staff: 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 payments and handle exceptions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staff: 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maintenance and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administrators: 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access control and security</a:t>
            </a:r>
            <a:endParaRPr lang="en-NZ" sz="22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799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42DD8-34B1-CFA1-D027-C838DBAA8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852EF-AA12-961A-5852-62C87B771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163862"/>
            <a:ext cx="9864456" cy="1280890"/>
          </a:xfrm>
        </p:spPr>
        <p:txBody>
          <a:bodyPr>
            <a:normAutofit/>
          </a:bodyPr>
          <a:lstStyle/>
          <a:p>
            <a:r>
              <a:rPr lang="en-NZ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Scope &amp; Boundaries</a:t>
            </a:r>
            <a:endParaRPr lang="en-NZ" sz="40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EFD26-11C1-DBD4-678B-50F42631E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207008"/>
            <a:ext cx="9864456" cy="555955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Scope: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search, selection, and enrolment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Enrolment validation (prerequisites, capacity, timetable conflicts)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Approval workflows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integration for data retrieval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Timetable </a:t>
            </a: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visualisation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Boundaries: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Excludes grading, transcripts, teaching, payroll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not directly modify external system data</a:t>
            </a:r>
            <a:endParaRPr lang="en-NZ" sz="20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684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066F9-7E0B-8261-8E20-46CFC7471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56D13-325B-977C-4EA9-74D00A56D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163862"/>
            <a:ext cx="9864456" cy="1280890"/>
          </a:xfrm>
        </p:spPr>
        <p:txBody>
          <a:bodyPr>
            <a:normAutofit/>
          </a:bodyPr>
          <a:lstStyle/>
          <a:p>
            <a:r>
              <a:rPr lang="en-NZ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Assumptions</a:t>
            </a:r>
            <a:endParaRPr lang="en-NZ" sz="40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00E76-798D-3E95-8643-96292F92E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207008"/>
            <a:ext cx="9864456" cy="555955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 have internet access and web browser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 are pre-authenticated by AUT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External systems provide accurate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supports multiple concurrent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Standardised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workflows across departments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 with AUT systems is available</a:t>
            </a:r>
            <a:endParaRPr lang="en-NZ" sz="20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383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BEC72-28A9-3DA8-16F9-6EEFE9D26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FF420-FF9D-5222-960C-B42087961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163862"/>
            <a:ext cx="9864456" cy="1280890"/>
          </a:xfrm>
        </p:spPr>
        <p:txBody>
          <a:bodyPr>
            <a:normAutofit/>
          </a:bodyPr>
          <a:lstStyle/>
          <a:p>
            <a:r>
              <a:rPr lang="en-NZ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 Engineering</a:t>
            </a:r>
            <a:endParaRPr lang="en-NZ" sz="40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6785F-CA23-CE8C-871F-8C8FF55EF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207008"/>
            <a:ext cx="9864456" cy="555955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 Elicitation Methods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analysis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Existing document analysis (AUT enrolment guideline)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 of current manual enrolment process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Stakeholder interviews (academic, registry, IT, finance staff)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Questionnaires for additional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Outcome of Elicitation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Identified inefficiencies in manual enrolment process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Defined need for an integrated Course Enrolment System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must support multiple departments and external system integration</a:t>
            </a:r>
            <a:endParaRPr lang="en-NZ" sz="18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995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A22A9-87EF-FE7F-05B7-6005E8B2C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3B0A3-DC55-85A7-E6C5-B0A7D8EFD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163862"/>
            <a:ext cx="9864456" cy="1280890"/>
          </a:xfrm>
        </p:spPr>
        <p:txBody>
          <a:bodyPr>
            <a:normAutofit/>
          </a:bodyPr>
          <a:lstStyle/>
          <a:p>
            <a:r>
              <a:rPr lang="en-NZ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Requirements</a:t>
            </a:r>
            <a:endParaRPr lang="en-NZ" sz="40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D6D3D-71DF-6A36-6FF6-23E9BD1B6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207008"/>
            <a:ext cx="9864456" cy="5559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key functional requirements: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login and role-based access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search, selection, and enrolment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Prerequisite, capacity, and timetable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Enrolment approval workflow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Payment status integration (Finance System)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Real-time enrolment tracking and notifications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Timetable </a:t>
            </a:r>
            <a:r>
              <a:rPr 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visualisation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clash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administration and audit logging</a:t>
            </a:r>
            <a:endParaRPr lang="en-NZ" sz="18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707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A597A-6106-C1FE-E41B-2B52D5309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C9E10-59C0-F67F-DA88-2A6BEF98D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163862"/>
            <a:ext cx="9864456" cy="1280890"/>
          </a:xfrm>
        </p:spPr>
        <p:txBody>
          <a:bodyPr>
            <a:normAutofit/>
          </a:bodyPr>
          <a:lstStyle/>
          <a:p>
            <a:r>
              <a:rPr lang="en-NZ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Non-Functional Requirements</a:t>
            </a:r>
            <a:endParaRPr lang="en-NZ" sz="40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ED409-6BFD-5581-6154-82698A11D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207008"/>
            <a:ext cx="9864456" cy="5559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key non-functional requirements: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Performance: supports 5,000+ concurrent users, fast response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Security: encrypted data, secure authentication, session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Reliability: 99.5% uptime, backup and recovery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Compatibility: web browser support + system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Scalability: supports future growth (10,000+ users)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Usability: user-friendly interface and clear error messages</a:t>
            </a:r>
            <a:endParaRPr lang="en-NZ" sz="18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270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995B3-69C5-2502-C6F3-08638FD6E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73DC2-DCE8-4D91-B3E0-90E3EDB74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163862"/>
            <a:ext cx="9864456" cy="1280890"/>
          </a:xfrm>
        </p:spPr>
        <p:txBody>
          <a:bodyPr>
            <a:normAutofit/>
          </a:bodyPr>
          <a:lstStyle/>
          <a:p>
            <a:r>
              <a:rPr lang="en-NZ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UML Requirements Modelling</a:t>
            </a:r>
            <a:endParaRPr lang="en-NZ" sz="40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A2526-768C-15F2-CE3C-B6EFA75C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207008"/>
            <a:ext cx="9864456" cy="555955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Translates functional requirements into visual system </a:t>
            </a:r>
            <a:r>
              <a:rPr lang="en-US" sz="2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behaviour</a:t>
            </a:r>
            <a:endParaRPr lang="en-US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Uses use case modelling to show system interactions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Defines system boundaries and user-system relationships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Ensures all stakeholder requirements are captured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foundation for system design and implementation</a:t>
            </a:r>
            <a:endParaRPr lang="en-NZ" sz="1800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49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1011E-8871-D4E4-3B0D-FC7513471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2DBCE-3F83-D477-BE6F-7B9F8EB57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163862"/>
            <a:ext cx="9864456" cy="1280890"/>
          </a:xfrm>
        </p:spPr>
        <p:txBody>
          <a:bodyPr>
            <a:normAutofit/>
          </a:bodyPr>
          <a:lstStyle/>
          <a:p>
            <a:r>
              <a:rPr lang="en-NZ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Actors</a:t>
            </a:r>
            <a:endParaRPr lang="en-NZ" sz="40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EC335-0380-4866-2DA1-9D63ADE70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207008"/>
            <a:ext cx="9864456" cy="555955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Actors: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Academic Department Staff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Academic Registry Staff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Finance Staff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Administrator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Staff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External System Actors: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Information System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Information System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Finance System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HR System</a:t>
            </a:r>
            <a:endParaRPr lang="en-NZ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004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D79CD-8012-E27E-CBC4-78D4DB51C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993B0-FA59-79E1-D389-0DBE01FE4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163862"/>
            <a:ext cx="9864456" cy="1280890"/>
          </a:xfrm>
        </p:spPr>
        <p:txBody>
          <a:bodyPr>
            <a:normAutofit/>
          </a:bodyPr>
          <a:lstStyle/>
          <a:p>
            <a:r>
              <a:rPr lang="en-NZ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Cases</a:t>
            </a:r>
            <a:endParaRPr lang="en-NZ" sz="40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B61F2-8AEB-8BD8-1067-81AC9D2F3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207008"/>
            <a:ext cx="9864456" cy="5559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key use cases: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login and role-based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search, selection, and enrolment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course details and timetable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Enrolment submission and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Prerequisite, capacity, and clash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Enrolment approval workflow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Payment processing and verification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administration and audit logging</a:t>
            </a:r>
            <a:endParaRPr lang="en-NZ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782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3B29E-1F86-4A90-D490-A97653919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49BD0-1A6E-AD41-C8AE-7DCB3FC55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163862"/>
            <a:ext cx="9864456" cy="1280890"/>
          </a:xfrm>
        </p:spPr>
        <p:txBody>
          <a:bodyPr>
            <a:normAutofit/>
          </a:bodyPr>
          <a:lstStyle/>
          <a:p>
            <a:r>
              <a:rPr lang="en-NZ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Case Relationships</a:t>
            </a:r>
            <a:endParaRPr lang="en-NZ" sz="40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3C641-C443-465C-906E-42085E330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207008"/>
            <a:ext cx="9864456" cy="555955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validations (prerequisites, capacity, clashes)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retrieval (student, course, finance, HR info)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 logging and timetable 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Notify enrolment issues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Modify enrolment request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Handle payment exceptions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Generalisation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 → Academic, Registry, Finance, IT, Admin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External Systems → SIS, CIS, Finance, HR</a:t>
            </a:r>
            <a:endParaRPr lang="en-NZ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829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1668A-3C55-D35A-1F94-CB01ABD22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5A0BC-AD9B-9EDC-E484-649456C71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163862"/>
            <a:ext cx="9864456" cy="1280890"/>
          </a:xfrm>
        </p:spPr>
        <p:txBody>
          <a:bodyPr>
            <a:normAutofit/>
          </a:bodyPr>
          <a:lstStyle/>
          <a:p>
            <a:r>
              <a:rPr lang="en-NZ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Case Diagram</a:t>
            </a:r>
            <a:endParaRPr lang="en-NZ" sz="40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5A4FEB-8A07-3AC2-BC1C-ADEE946A5B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858" y="1016855"/>
            <a:ext cx="8738284" cy="584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493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1B957-C13F-FAEB-54EF-66C5F6393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6FF62-FF0F-5690-84B7-F746DC424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163862"/>
            <a:ext cx="9864456" cy="1280890"/>
          </a:xfrm>
        </p:spPr>
        <p:txBody>
          <a:bodyPr>
            <a:normAutofit/>
          </a:bodyPr>
          <a:lstStyle/>
          <a:p>
            <a:r>
              <a:rPr lang="en-NZ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UML Class Diagram</a:t>
            </a:r>
            <a:endParaRPr lang="en-NZ" sz="40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CB08B-FF9C-6275-717A-12DBF44A3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207008"/>
            <a:ext cx="9864456" cy="555955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Translates system requirements into a structural UML class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Defines system classes, attributes, operations, and relationships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Forms the foundation for system implementation</a:t>
            </a:r>
            <a:endParaRPr lang="en-NZ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285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F02E2-9B4F-92FC-35C3-644C80025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6E735-4298-5F19-D356-7AB6EA6A7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163862"/>
            <a:ext cx="9864456" cy="1280890"/>
          </a:xfrm>
        </p:spPr>
        <p:txBody>
          <a:bodyPr>
            <a:normAutofit/>
          </a:bodyPr>
          <a:lstStyle/>
          <a:p>
            <a:r>
              <a:rPr lang="en-NZ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Identified Classes</a:t>
            </a:r>
            <a:endParaRPr lang="en-NZ" sz="40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C0A8C-E2AA-D830-3913-553A2B3A8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207008"/>
            <a:ext cx="9864456" cy="5559552"/>
          </a:xfrm>
        </p:spPr>
        <p:txBody>
          <a:bodyPr numCol="2"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Domain Classes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(Abstract)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 (Abstract)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AcademicStaff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RegistryStaff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FinanceStaff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ITStaff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SystemAdmin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Timetable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EnrolmentRequest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Enumerations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StudentType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EnrolmentStatus</a:t>
            </a:r>
            <a:endParaRPr lang="en-NZ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 Layer Classes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EnrolmentService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ValidationService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TimetableService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FinanceService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NotificationService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AuditService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Integrated Systems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ICourseInfoSystem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IStudentInfoSystem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IFinanceSystem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IHRSystem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334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A8087-F280-CE1E-480F-32B4996BE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05192-4538-3FFC-A31C-B7BCA6AB6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163862"/>
            <a:ext cx="9864456" cy="1280890"/>
          </a:xfrm>
        </p:spPr>
        <p:txBody>
          <a:bodyPr>
            <a:normAutofit/>
          </a:bodyPr>
          <a:lstStyle/>
          <a:p>
            <a:r>
              <a:rPr lang="en-NZ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Diagram</a:t>
            </a:r>
            <a:endParaRPr lang="en-NZ" sz="40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DD890A-9353-7340-26FD-B1D9E0C509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88" y="884497"/>
            <a:ext cx="11227244" cy="586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4237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12379-F3E1-64A7-A510-88E362CE1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FC018-7838-D6ED-80D8-09283CA86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772" y="2788555"/>
            <a:ext cx="9864456" cy="1280890"/>
          </a:xfrm>
        </p:spPr>
        <p:txBody>
          <a:bodyPr>
            <a:normAutofit/>
          </a:bodyPr>
          <a:lstStyle/>
          <a:p>
            <a:pPr algn="ctr"/>
            <a:r>
              <a:rPr lang="en-NZ" sz="5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 For Listening!</a:t>
            </a:r>
            <a:endParaRPr lang="en-NZ" sz="5400" b="1" noProof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75290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34627d1-4b8b-4c2d-97e4-eea5c5a5ed2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8FEEB1ECAC3F4BBE2C0FB379E93B27" ma:contentTypeVersion="5" ma:contentTypeDescription="Create a new document." ma:contentTypeScope="" ma:versionID="03921c58ef34eb455f0c347f05354401">
  <xsd:schema xmlns:xsd="http://www.w3.org/2001/XMLSchema" xmlns:xs="http://www.w3.org/2001/XMLSchema" xmlns:p="http://schemas.microsoft.com/office/2006/metadata/properties" xmlns:ns3="534627d1-4b8b-4c2d-97e4-eea5c5a5ed20" targetNamespace="http://schemas.microsoft.com/office/2006/metadata/properties" ma:root="true" ma:fieldsID="e66730f23ee25cd35f572f8d5ac4b771" ns3:_="">
    <xsd:import namespace="534627d1-4b8b-4c2d-97e4-eea5c5a5ed2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4627d1-4b8b-4c2d-97e4-eea5c5a5ed2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8DC6E60-652D-47D9-8CE2-2CA5FBC9AC1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903BF7-4BF0-4AAD-BF02-77BBFDD11BBC}">
  <ds:schemaRefs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microsoft.com/office/2006/metadata/properties"/>
    <ds:schemaRef ds:uri="534627d1-4b8b-4c2d-97e4-eea5c5a5ed20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7955059-95A7-40CB-9A17-1CB21251B743}">
  <ds:schemaRefs>
    <ds:schemaRef ds:uri="534627d1-4b8b-4c2d-97e4-eea5c5a5ed2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5e022ca1-5c04-4f87-8db7-d588726274e3}" enabled="0" method="" siteId="{5e022ca1-5c04-4f87-8db7-d588726274e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50</TotalTime>
  <Words>852</Words>
  <Application>Microsoft Office PowerPoint</Application>
  <PresentationFormat>Widescreen</PresentationFormat>
  <Paragraphs>174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Slab SemiBold</vt:lpstr>
      <vt:lpstr>Arial</vt:lpstr>
      <vt:lpstr>Century Gothic</vt:lpstr>
      <vt:lpstr>Courier New</vt:lpstr>
      <vt:lpstr>Wingdings 3</vt:lpstr>
      <vt:lpstr>Wisp</vt:lpstr>
      <vt:lpstr>ENSE706 - Data Process and Software Modelling  Assessment Phase 1</vt:lpstr>
      <vt:lpstr>Selected organisation – AUT</vt:lpstr>
      <vt:lpstr>Key departments</vt:lpstr>
      <vt:lpstr>Key system</vt:lpstr>
      <vt:lpstr>Problem statement</vt:lpstr>
      <vt:lpstr>System Requirements &amp; Integration</vt:lpstr>
      <vt:lpstr>Stakeholders / User Roles</vt:lpstr>
      <vt:lpstr>System Scope &amp; Boundaries</vt:lpstr>
      <vt:lpstr>Assumptions</vt:lpstr>
      <vt:lpstr>Requirements Engineering</vt:lpstr>
      <vt:lpstr>Functional Requirements</vt:lpstr>
      <vt:lpstr>Non-Functional Requirements</vt:lpstr>
      <vt:lpstr>UML Requirements Modelling</vt:lpstr>
      <vt:lpstr>Actors</vt:lpstr>
      <vt:lpstr>Use Cases</vt:lpstr>
      <vt:lpstr>Use Case Relationships</vt:lpstr>
      <vt:lpstr>Use Case Diagram</vt:lpstr>
      <vt:lpstr>UML Class Diagram</vt:lpstr>
      <vt:lpstr>Identified Classes</vt:lpstr>
      <vt:lpstr>Class Diagram</vt:lpstr>
      <vt:lpstr>Thank You For Listening!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Elwin Schaaf</dc:creator>
  <cp:lastModifiedBy>Thanh Tran</cp:lastModifiedBy>
  <cp:revision>15</cp:revision>
  <dcterms:created xsi:type="dcterms:W3CDTF">2025-08-20T04:14:43Z</dcterms:created>
  <dcterms:modified xsi:type="dcterms:W3CDTF">2026-04-19T11:54:37Z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0x010100D68FEEB1ECAC3F4BBE2C0FB379E93B27</vt:lpwstr>
  </property>
</Properties>
</file>