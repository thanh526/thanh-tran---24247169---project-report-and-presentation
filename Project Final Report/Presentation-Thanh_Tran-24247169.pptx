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4"/>
  </p:sldMasterIdLst>
  <p:notesMasterIdLst>
    <p:notesMasterId r:id="rId23"/>
  </p:notesMasterIdLst>
  <p:handoutMasterIdLst>
    <p:handoutMasterId r:id="rId24"/>
  </p:handoutMasterIdLst>
  <p:sldIdLst>
    <p:sldId id="256" r:id="rId5"/>
    <p:sldId id="257" r:id="rId6"/>
    <p:sldId id="262" r:id="rId7"/>
    <p:sldId id="264" r:id="rId8"/>
    <p:sldId id="265" r:id="rId9"/>
    <p:sldId id="258" r:id="rId10"/>
    <p:sldId id="266" r:id="rId11"/>
    <p:sldId id="267" r:id="rId12"/>
    <p:sldId id="268" r:id="rId13"/>
    <p:sldId id="269" r:id="rId14"/>
    <p:sldId id="270" r:id="rId15"/>
    <p:sldId id="271" r:id="rId16"/>
    <p:sldId id="272" r:id="rId17"/>
    <p:sldId id="273" r:id="rId18"/>
    <p:sldId id="274" r:id="rId19"/>
    <p:sldId id="275" r:id="rId20"/>
    <p:sldId id="276" r:id="rId21"/>
    <p:sldId id="280"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3DB1835-1FEC-ED13-6F0E-09062B88F8B6}" v="163" dt="2025-08-26T22:46:38.622"/>
    <p1510:client id="{34A50299-920A-4CA0-95ED-7EC62F44D0A2}" v="1165" dt="2025-08-27T00:42:23.697"/>
    <p1510:client id="{4E7B283B-2D77-8C6E-8F83-552AC386444B}" v="13" dt="2025-08-26T06:26:34.923"/>
    <p1510:client id="{7343F435-0590-C029-E02A-1879923E0E24}" v="882" dt="2025-08-26T11:52:15.960"/>
    <p1510:client id="{825438F4-5B25-78F5-03AA-49B42AA5BCE7}" v="207" dt="2025-08-26T08:29:00.022"/>
    <p1510:client id="{846AD76E-3272-E299-CBD2-20DAFFB1692C}" v="4" dt="2025-08-26T23:28:14.011"/>
    <p1510:client id="{896A5AD2-86FB-EE43-B5B2-0C58CE853F25}" v="579" dt="2025-08-27T05:07:48.994"/>
    <p1510:client id="{B2A9102C-D049-4CC9-97CA-D9598E442441}" v="758" dt="2025-08-27T05:00:09.058"/>
    <p1510:client id="{CE8B6F48-1DA2-15E9-279B-F8AAFABB1163}" v="125" dt="2025-08-26T09:50:52.182"/>
    <p1510:client id="{D0063126-A9A7-4164-546C-2A9A547E27C4}" v="57" dt="2025-08-26T09:01:18.774"/>
    <p1510:client id="{EB5E083F-25FA-4D7A-A5EA-33AEA31553ED}" v="2631" dt="2025-08-26T12:40:16.323"/>
  </p1510:revLst>
</p1510:revInfo>
</file>

<file path=ppt/tableStyles.xml><?xml version="1.0" encoding="utf-8"?>
<a:tblStyleLst xmlns:a="http://schemas.openxmlformats.org/drawingml/2006/main" def="{5C22544A-7EE6-4342-B048-85BDC9FD1C3A}">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7"/>
    <p:restoredTop sz="94404" autoAdjust="0"/>
  </p:normalViewPr>
  <p:slideViewPr>
    <p:cSldViewPr snapToGrid="0">
      <p:cViewPr varScale="1">
        <p:scale>
          <a:sx n="70" d="100"/>
          <a:sy n="70" d="100"/>
        </p:scale>
        <p:origin x="512" y="52"/>
      </p:cViewPr>
      <p:guideLst/>
    </p:cSldViewPr>
  </p:slideViewPr>
  <p:notesTextViewPr>
    <p:cViewPr>
      <p:scale>
        <a:sx n="1" d="1"/>
        <a:sy n="1" d="1"/>
      </p:scale>
      <p:origin x="0" y="0"/>
    </p:cViewPr>
  </p:notesTextViewPr>
  <p:sorterViewPr>
    <p:cViewPr>
      <p:scale>
        <a:sx n="80" d="100"/>
        <a:sy n="80" d="100"/>
      </p:scale>
      <p:origin x="0" y="0"/>
    </p:cViewPr>
  </p:sorterViewPr>
  <p:notesViewPr>
    <p:cSldViewPr snapToGrid="0">
      <p:cViewPr varScale="1">
        <p:scale>
          <a:sx n="96" d="100"/>
          <a:sy n="96" d="100"/>
        </p:scale>
        <p:origin x="3976" y="16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D48E808-F8DD-3D33-0C47-AAD6B35DB0A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7F4147D5-76C1-0291-0435-E7AD4C59EE9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4AE45E5-4D69-3745-9E11-C5571AB52466}" type="datetimeFigureOut">
              <a:rPr lang="en-US" smtClean="0"/>
              <a:t>5/31/2026</a:t>
            </a:fld>
            <a:endParaRPr lang="en-US"/>
          </a:p>
        </p:txBody>
      </p:sp>
      <p:sp>
        <p:nvSpPr>
          <p:cNvPr id="4" name="Footer Placeholder 3">
            <a:extLst>
              <a:ext uri="{FF2B5EF4-FFF2-40B4-BE49-F238E27FC236}">
                <a16:creationId xmlns:a16="http://schemas.microsoft.com/office/drawing/2014/main" id="{D1E3B9E7-567D-E404-C886-86554170702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BFD70A9-1994-35D8-16F0-CFAB9A15184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A0A9EB7-9376-0A4F-8391-A4EA1FCBC19F}" type="slidenum">
              <a:rPr lang="en-US" smtClean="0"/>
              <a:t>‹#›</a:t>
            </a:fld>
            <a:endParaRPr lang="en-US"/>
          </a:p>
        </p:txBody>
      </p:sp>
    </p:spTree>
    <p:extLst>
      <p:ext uri="{BB962C8B-B14F-4D97-AF65-F5344CB8AC3E}">
        <p14:creationId xmlns:p14="http://schemas.microsoft.com/office/powerpoint/2010/main" val="358978186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NZ"/>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654E818-92A2-40C1-BAD4-E2914CACAA52}" type="datetimeFigureOut">
              <a:rPr lang="en-NZ" smtClean="0"/>
              <a:t>31/05/2026</a:t>
            </a:fld>
            <a:endParaRPr lang="en-NZ"/>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NZ"/>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NZ"/>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7E5F625-7DDC-48BD-B69C-B97F1D5B5DC0}" type="slidenum">
              <a:rPr lang="en-NZ" smtClean="0"/>
              <a:t>‹#›</a:t>
            </a:fld>
            <a:endParaRPr lang="en-NZ"/>
          </a:p>
        </p:txBody>
      </p:sp>
    </p:spTree>
    <p:extLst>
      <p:ext uri="{BB962C8B-B14F-4D97-AF65-F5344CB8AC3E}">
        <p14:creationId xmlns:p14="http://schemas.microsoft.com/office/powerpoint/2010/main" val="1602311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everyone, I’m Thanh. Today, I will present the process of building a system for a selected </a:t>
            </a:r>
            <a:r>
              <a:rPr lang="en-US" dirty="0" err="1"/>
              <a:t>organisation</a:t>
            </a:r>
            <a:r>
              <a:rPr lang="en-US" dirty="0"/>
              <a:t>.</a:t>
            </a:r>
          </a:p>
        </p:txBody>
      </p:sp>
      <p:sp>
        <p:nvSpPr>
          <p:cNvPr id="4" name="Slide Number Placeholder 3"/>
          <p:cNvSpPr>
            <a:spLocks noGrp="1"/>
          </p:cNvSpPr>
          <p:nvPr>
            <p:ph type="sldNum" sz="quarter" idx="5"/>
          </p:nvPr>
        </p:nvSpPr>
        <p:spPr/>
        <p:txBody>
          <a:bodyPr/>
          <a:lstStyle/>
          <a:p>
            <a:fld id="{97E5F625-7DDC-48BD-B69C-B97F1D5B5DC0}" type="slidenum">
              <a:rPr lang="en-NZ" smtClean="0"/>
              <a:t>1</a:t>
            </a:fld>
            <a:endParaRPr lang="en-NZ"/>
          </a:p>
        </p:txBody>
      </p:sp>
    </p:spTree>
    <p:extLst>
      <p:ext uri="{BB962C8B-B14F-4D97-AF65-F5344CB8AC3E}">
        <p14:creationId xmlns:p14="http://schemas.microsoft.com/office/powerpoint/2010/main" val="26941831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a:t>
            </a:r>
            <a:r>
              <a:rPr lang="en-US" dirty="0" err="1"/>
              <a:t>organisation</a:t>
            </a:r>
            <a:r>
              <a:rPr lang="en-US" dirty="0"/>
              <a:t> I have chosen is AUT. It is one of the largest universities in New Zealand, established in 2000. In 2025, it has over 26,000 students and over 4,000 staff members. AUT has three campuses and offers a wide range of </a:t>
            </a:r>
            <a:r>
              <a:rPr lang="en-US" dirty="0" err="1"/>
              <a:t>programmes</a:t>
            </a:r>
            <a:r>
              <a:rPr lang="en-US" dirty="0"/>
              <a:t>. AUT has </a:t>
            </a:r>
            <a:r>
              <a:rPr lang="en-US" sz="1200" dirty="0">
                <a:solidFill>
                  <a:schemeClr val="tx1"/>
                </a:solidFill>
                <a:latin typeface="Arial" panose="020B0604020202020204" pitchFamily="34" charset="0"/>
                <a:cs typeface="Arial" panose="020B0604020202020204" pitchFamily="34" charset="0"/>
              </a:rPr>
              <a:t>complex </a:t>
            </a:r>
            <a:r>
              <a:rPr lang="en-US" sz="1200" dirty="0" err="1">
                <a:solidFill>
                  <a:schemeClr val="tx1"/>
                </a:solidFill>
                <a:latin typeface="Arial" panose="020B0604020202020204" pitchFamily="34" charset="0"/>
                <a:cs typeface="Arial" panose="020B0604020202020204" pitchFamily="34" charset="0"/>
              </a:rPr>
              <a:t>organisational</a:t>
            </a:r>
            <a:r>
              <a:rPr lang="en-US" sz="1200" dirty="0">
                <a:solidFill>
                  <a:schemeClr val="tx1"/>
                </a:solidFill>
                <a:latin typeface="Arial" panose="020B0604020202020204" pitchFamily="34" charset="0"/>
                <a:cs typeface="Arial" panose="020B0604020202020204" pitchFamily="34" charset="0"/>
              </a:rPr>
              <a:t> structure</a:t>
            </a:r>
            <a:endParaRPr lang="en-US" dirty="0"/>
          </a:p>
          <a:p>
            <a:endParaRPr lang="en-US" dirty="0"/>
          </a:p>
        </p:txBody>
      </p:sp>
      <p:sp>
        <p:nvSpPr>
          <p:cNvPr id="4" name="Slide Number Placeholder 3"/>
          <p:cNvSpPr>
            <a:spLocks noGrp="1"/>
          </p:cNvSpPr>
          <p:nvPr>
            <p:ph type="sldNum" sz="quarter" idx="5"/>
          </p:nvPr>
        </p:nvSpPr>
        <p:spPr/>
        <p:txBody>
          <a:bodyPr/>
          <a:lstStyle/>
          <a:p>
            <a:fld id="{97E5F625-7DDC-48BD-B69C-B97F1D5B5DC0}" type="slidenum">
              <a:rPr lang="en-NZ" smtClean="0"/>
              <a:t>2</a:t>
            </a:fld>
            <a:endParaRPr lang="en-NZ"/>
          </a:p>
        </p:txBody>
      </p:sp>
    </p:spTree>
    <p:extLst>
      <p:ext uri="{BB962C8B-B14F-4D97-AF65-F5344CB8AC3E}">
        <p14:creationId xmlns:p14="http://schemas.microsoft.com/office/powerpoint/2010/main" val="42459069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has many departments. For example, </a:t>
            </a:r>
          </a:p>
        </p:txBody>
      </p:sp>
      <p:sp>
        <p:nvSpPr>
          <p:cNvPr id="4" name="Slide Number Placeholder 3"/>
          <p:cNvSpPr>
            <a:spLocks noGrp="1"/>
          </p:cNvSpPr>
          <p:nvPr>
            <p:ph type="sldNum" sz="quarter" idx="5"/>
          </p:nvPr>
        </p:nvSpPr>
        <p:spPr/>
        <p:txBody>
          <a:bodyPr/>
          <a:lstStyle/>
          <a:p>
            <a:fld id="{97E5F625-7DDC-48BD-B69C-B97F1D5B5DC0}" type="slidenum">
              <a:rPr lang="en-NZ" smtClean="0"/>
              <a:t>3</a:t>
            </a:fld>
            <a:endParaRPr lang="en-NZ"/>
          </a:p>
        </p:txBody>
      </p:sp>
    </p:spTree>
    <p:extLst>
      <p:ext uri="{BB962C8B-B14F-4D97-AF65-F5344CB8AC3E}">
        <p14:creationId xmlns:p14="http://schemas.microsoft.com/office/powerpoint/2010/main" val="40899988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each department, it requires a system to support its operation. For example, …. I will focus on </a:t>
            </a:r>
            <a:r>
              <a:rPr lang="en-US" sz="1200" dirty="0">
                <a:solidFill>
                  <a:schemeClr val="tx1"/>
                </a:solidFill>
                <a:latin typeface="Arial" panose="020B0604020202020204" pitchFamily="34" charset="0"/>
                <a:cs typeface="Arial" panose="020B0604020202020204" pitchFamily="34" charset="0"/>
              </a:rPr>
              <a:t>Course Enrolment System in my project</a:t>
            </a:r>
            <a:endParaRPr lang="en-US" dirty="0"/>
          </a:p>
        </p:txBody>
      </p:sp>
      <p:sp>
        <p:nvSpPr>
          <p:cNvPr id="4" name="Slide Number Placeholder 3"/>
          <p:cNvSpPr>
            <a:spLocks noGrp="1"/>
          </p:cNvSpPr>
          <p:nvPr>
            <p:ph type="sldNum" sz="quarter" idx="5"/>
          </p:nvPr>
        </p:nvSpPr>
        <p:spPr/>
        <p:txBody>
          <a:bodyPr/>
          <a:lstStyle/>
          <a:p>
            <a:fld id="{97E5F625-7DDC-48BD-B69C-B97F1D5B5DC0}" type="slidenum">
              <a:rPr lang="en-NZ" smtClean="0"/>
              <a:t>4</a:t>
            </a:fld>
            <a:endParaRPr lang="en-NZ"/>
          </a:p>
        </p:txBody>
      </p:sp>
    </p:spTree>
    <p:extLst>
      <p:ext uri="{BB962C8B-B14F-4D97-AF65-F5344CB8AC3E}">
        <p14:creationId xmlns:p14="http://schemas.microsoft.com/office/powerpoint/2010/main" val="36135681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current state, the </a:t>
            </a:r>
            <a:r>
              <a:rPr lang="en-US" sz="1200" dirty="0">
                <a:solidFill>
                  <a:schemeClr val="tx1"/>
                </a:solidFill>
                <a:latin typeface="Arial" panose="020B0604020202020204" pitchFamily="34" charset="0"/>
                <a:cs typeface="Arial" panose="020B0604020202020204" pitchFamily="34" charset="0"/>
              </a:rPr>
              <a:t>Course Enrolment System of AUT is processing manual and paper-based. This leads to several issue like lost, missing paper, delays in enrolment process, inconsistent data. Therefore, AUT need to building an online Course Enrolment System to improve efficiency, accuracy, and accessibility</a:t>
            </a:r>
            <a:endParaRPr lang="en-US" dirty="0"/>
          </a:p>
        </p:txBody>
      </p:sp>
      <p:sp>
        <p:nvSpPr>
          <p:cNvPr id="4" name="Slide Number Placeholder 3"/>
          <p:cNvSpPr>
            <a:spLocks noGrp="1"/>
          </p:cNvSpPr>
          <p:nvPr>
            <p:ph type="sldNum" sz="quarter" idx="5"/>
          </p:nvPr>
        </p:nvSpPr>
        <p:spPr/>
        <p:txBody>
          <a:bodyPr/>
          <a:lstStyle/>
          <a:p>
            <a:fld id="{97E5F625-7DDC-48BD-B69C-B97F1D5B5DC0}" type="slidenum">
              <a:rPr lang="en-NZ" smtClean="0"/>
              <a:t>5</a:t>
            </a:fld>
            <a:endParaRPr lang="en-NZ"/>
          </a:p>
        </p:txBody>
      </p:sp>
    </p:spTree>
    <p:extLst>
      <p:ext uri="{BB962C8B-B14F-4D97-AF65-F5344CB8AC3E}">
        <p14:creationId xmlns:p14="http://schemas.microsoft.com/office/powerpoint/2010/main" val="35163117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For the new system, AUT requite it to integrate with </a:t>
            </a:r>
            <a:r>
              <a:rPr lang="en-NZ" sz="1200" dirty="0">
                <a:solidFill>
                  <a:schemeClr val="tx1"/>
                </a:solidFill>
                <a:latin typeface="Arial" panose="020B0604020202020204" pitchFamily="34" charset="0"/>
                <a:cs typeface="Arial" panose="020B0604020202020204" pitchFamily="34" charset="0"/>
              </a:rPr>
              <a:t>Student Information System</a:t>
            </a:r>
            <a:r>
              <a:rPr lang="en-US" sz="1200" dirty="0">
                <a:solidFill>
                  <a:schemeClr val="tx1"/>
                </a:solidFill>
                <a:latin typeface="Arial" panose="020B0604020202020204" pitchFamily="34" charset="0"/>
                <a:cs typeface="Arial" panose="020B0604020202020204" pitchFamily="34" charset="0"/>
              </a:rPr>
              <a:t>, </a:t>
            </a:r>
            <a:r>
              <a:rPr lang="en-NZ" sz="1200" dirty="0">
                <a:solidFill>
                  <a:schemeClr val="tx1"/>
                </a:solidFill>
                <a:latin typeface="Arial" panose="020B0604020202020204" pitchFamily="34" charset="0"/>
                <a:cs typeface="Arial" panose="020B0604020202020204" pitchFamily="34" charset="0"/>
              </a:rPr>
              <a:t>Course Information System, HR System, Finance System.</a:t>
            </a:r>
          </a:p>
          <a:p>
            <a:pPr marL="0" marR="0" lvl="0" indent="0" algn="l" defTabSz="914400" rtl="0" eaLnBrk="1" fontAlgn="auto" latinLnBrk="0" hangingPunct="1">
              <a:lnSpc>
                <a:spcPct val="100000"/>
              </a:lnSpc>
              <a:spcBef>
                <a:spcPts val="0"/>
              </a:spcBef>
              <a:spcAft>
                <a:spcPts val="0"/>
              </a:spcAft>
              <a:buClrTx/>
              <a:buSzTx/>
              <a:buFontTx/>
              <a:buNone/>
              <a:tabLst/>
              <a:defRPr/>
            </a:pPr>
            <a:r>
              <a:rPr lang="en-NZ" sz="1200" dirty="0">
                <a:solidFill>
                  <a:schemeClr val="tx1"/>
                </a:solidFill>
                <a:latin typeface="Arial" panose="020B0604020202020204" pitchFamily="34" charset="0"/>
                <a:cs typeface="Arial" panose="020B0604020202020204" pitchFamily="34" charset="0"/>
              </a:rPr>
              <a:t>Some of the require for this system is it need to support domestic and internation </a:t>
            </a:r>
          </a:p>
        </p:txBody>
      </p:sp>
      <p:sp>
        <p:nvSpPr>
          <p:cNvPr id="4" name="Slide Number Placeholder 3"/>
          <p:cNvSpPr>
            <a:spLocks noGrp="1"/>
          </p:cNvSpPr>
          <p:nvPr>
            <p:ph type="sldNum" sz="quarter" idx="5"/>
          </p:nvPr>
        </p:nvSpPr>
        <p:spPr/>
        <p:txBody>
          <a:bodyPr/>
          <a:lstStyle/>
          <a:p>
            <a:fld id="{97E5F625-7DDC-48BD-B69C-B97F1D5B5DC0}" type="slidenum">
              <a:rPr lang="en-NZ" smtClean="0"/>
              <a:t>6</a:t>
            </a:fld>
            <a:endParaRPr lang="en-NZ"/>
          </a:p>
        </p:txBody>
      </p:sp>
    </p:spTree>
    <p:extLst>
      <p:ext uri="{BB962C8B-B14F-4D97-AF65-F5344CB8AC3E}">
        <p14:creationId xmlns:p14="http://schemas.microsoft.com/office/powerpoint/2010/main" val="37549381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Based on the problem statement, I identified these stakeholder</a:t>
            </a:r>
          </a:p>
        </p:txBody>
      </p:sp>
      <p:sp>
        <p:nvSpPr>
          <p:cNvPr id="4" name="Slide Number Placeholder 3"/>
          <p:cNvSpPr>
            <a:spLocks noGrp="1"/>
          </p:cNvSpPr>
          <p:nvPr>
            <p:ph type="sldNum" sz="quarter" idx="5"/>
          </p:nvPr>
        </p:nvSpPr>
        <p:spPr/>
        <p:txBody>
          <a:bodyPr/>
          <a:lstStyle/>
          <a:p>
            <a:fld id="{97E5F625-7DDC-48BD-B69C-B97F1D5B5DC0}" type="slidenum">
              <a:rPr lang="en-NZ" smtClean="0"/>
              <a:t>7</a:t>
            </a:fld>
            <a:endParaRPr lang="en-NZ"/>
          </a:p>
        </p:txBody>
      </p:sp>
    </p:spTree>
    <p:extLst>
      <p:ext uri="{BB962C8B-B14F-4D97-AF65-F5344CB8AC3E}">
        <p14:creationId xmlns:p14="http://schemas.microsoft.com/office/powerpoint/2010/main" val="30253446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also defined system scope and boundary.</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system focuses on enrolment-related functions like searching, selecting, and enrolling in courses, checking enrolment validation, supporting approval workflows, integrating with external systems for data retrieval, and </a:t>
            </a:r>
            <a:r>
              <a:rPr lang="en-US" dirty="0" err="1"/>
              <a:t>visualising</a:t>
            </a:r>
            <a:r>
              <a:rPr lang="en-US" dirty="0"/>
              <a:t> timetables.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It will not handle grading, transcripts, teaching, or payroll, and it does not directly modify data in external systems.</a:t>
            </a:r>
            <a:endParaRPr lang="en-US" sz="1200" dirty="0">
              <a:solidFill>
                <a:schemeClr val="tx1"/>
              </a:solidFill>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solidFill>
                <a:schemeClr val="tx1"/>
              </a:solidFill>
              <a:latin typeface="Arial" panose="020B0604020202020204" pitchFamily="34" charset="0"/>
              <a:cs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97E5F625-7DDC-48BD-B69C-B97F1D5B5DC0}" type="slidenum">
              <a:rPr lang="en-NZ" smtClean="0"/>
              <a:t>8</a:t>
            </a:fld>
            <a:endParaRPr lang="en-NZ"/>
          </a:p>
        </p:txBody>
      </p:sp>
    </p:spTree>
    <p:extLst>
      <p:ext uri="{BB962C8B-B14F-4D97-AF65-F5344CB8AC3E}">
        <p14:creationId xmlns:p14="http://schemas.microsoft.com/office/powerpoint/2010/main" val="425554839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 also make some assumption for this question such as u</a:t>
            </a:r>
            <a:r>
              <a:rPr lang="en-US" sz="1200" dirty="0">
                <a:solidFill>
                  <a:schemeClr val="tx1"/>
                </a:solidFill>
                <a:latin typeface="Arial" panose="020B0604020202020204" pitchFamily="34" charset="0"/>
                <a:cs typeface="Arial" panose="020B0604020202020204" pitchFamily="34" charset="0"/>
              </a:rPr>
              <a:t>sers have internet access and web browser, external systems provide accurate data</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solidFill>
                <a:schemeClr val="tx1"/>
              </a:solidFill>
              <a:latin typeface="Arial" panose="020B0604020202020204" pitchFamily="34" charset="0"/>
              <a:cs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97E5F625-7DDC-48BD-B69C-B97F1D5B5DC0}" type="slidenum">
              <a:rPr lang="en-NZ" smtClean="0"/>
              <a:t>9</a:t>
            </a:fld>
            <a:endParaRPr lang="en-NZ"/>
          </a:p>
        </p:txBody>
      </p:sp>
    </p:spTree>
    <p:extLst>
      <p:ext uri="{BB962C8B-B14F-4D97-AF65-F5344CB8AC3E}">
        <p14:creationId xmlns:p14="http://schemas.microsoft.com/office/powerpoint/2010/main" val="396525961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After considering the system scope, boundaries, and assumptions, I started the first step of system development, which is requirements analysis. To do the requirements analysis, I use some Requirements Elicitation Methods to do it, including </a:t>
            </a:r>
            <a:r>
              <a:rPr lang="en-US" sz="1200" dirty="0">
                <a:solidFill>
                  <a:schemeClr val="tx1"/>
                </a:solidFill>
                <a:latin typeface="Arial" panose="020B0604020202020204" pitchFamily="34" charset="0"/>
                <a:cs typeface="Arial" panose="020B0604020202020204" pitchFamily="34" charset="0"/>
              </a:rPr>
              <a:t>Problem statement analysis, Existing document analysis, Observation of current enrolment process, and Stakeholder interviews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solidFill>
                <a:schemeClr val="tx1"/>
              </a:solidFill>
              <a:latin typeface="Arial" panose="020B0604020202020204" pitchFamily="34" charset="0"/>
              <a:cs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97E5F625-7DDC-48BD-B69C-B97F1D5B5DC0}" type="slidenum">
              <a:rPr lang="en-NZ" smtClean="0"/>
              <a:t>10</a:t>
            </a:fld>
            <a:endParaRPr lang="en-NZ"/>
          </a:p>
        </p:txBody>
      </p:sp>
    </p:spTree>
    <p:extLst>
      <p:ext uri="{BB962C8B-B14F-4D97-AF65-F5344CB8AC3E}">
        <p14:creationId xmlns:p14="http://schemas.microsoft.com/office/powerpoint/2010/main" val="312358178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From the requirement analysis, I identified the functional requirement of the system. Some key requirements such as user login, and role-based control, </a:t>
            </a:r>
            <a:r>
              <a:rPr lang="en-US" sz="1200" dirty="0">
                <a:solidFill>
                  <a:schemeClr val="tx1"/>
                </a:solidFill>
                <a:latin typeface="Arial" panose="020B0604020202020204" pitchFamily="34" charset="0"/>
                <a:cs typeface="Arial" panose="020B0604020202020204" pitchFamily="34" charset="0"/>
              </a:rPr>
              <a:t>Course search, selection, and enrolment, Payment status integration, Timetable </a:t>
            </a:r>
            <a:r>
              <a:rPr lang="en-US" sz="1200" dirty="0" err="1">
                <a:solidFill>
                  <a:schemeClr val="tx1"/>
                </a:solidFill>
                <a:latin typeface="Arial" panose="020B0604020202020204" pitchFamily="34" charset="0"/>
                <a:cs typeface="Arial" panose="020B0604020202020204" pitchFamily="34" charset="0"/>
              </a:rPr>
              <a:t>visualisation</a:t>
            </a:r>
            <a:r>
              <a:rPr lang="en-US" sz="1200" dirty="0">
                <a:solidFill>
                  <a:schemeClr val="tx1"/>
                </a:solidFill>
                <a:latin typeface="Arial" panose="020B0604020202020204" pitchFamily="34" charset="0"/>
                <a:cs typeface="Arial" panose="020B0604020202020204" pitchFamily="34" charset="0"/>
              </a:rPr>
              <a:t> and clash detection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solidFill>
                <a:schemeClr val="tx1"/>
              </a:solidFill>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solidFill>
                <a:schemeClr val="tx1"/>
              </a:solidFill>
              <a:latin typeface="Arial" panose="020B0604020202020204" pitchFamily="34" charset="0"/>
              <a:cs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97E5F625-7DDC-48BD-B69C-B97F1D5B5DC0}" type="slidenum">
              <a:rPr lang="en-NZ" smtClean="0"/>
              <a:t>11</a:t>
            </a:fld>
            <a:endParaRPr lang="en-NZ"/>
          </a:p>
        </p:txBody>
      </p:sp>
    </p:spTree>
    <p:extLst>
      <p:ext uri="{BB962C8B-B14F-4D97-AF65-F5344CB8AC3E}">
        <p14:creationId xmlns:p14="http://schemas.microsoft.com/office/powerpoint/2010/main" val="11346254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Beside the functional requirement, I also define non-functional requirement such as </a:t>
            </a:r>
            <a:r>
              <a:rPr lang="en-US" sz="1200" dirty="0">
                <a:solidFill>
                  <a:schemeClr val="tx1"/>
                </a:solidFill>
                <a:latin typeface="Arial" panose="020B0604020202020204" pitchFamily="34" charset="0"/>
                <a:cs typeface="Arial" panose="020B0604020202020204" pitchFamily="34" charset="0"/>
              </a:rPr>
              <a:t>Performance, Security, Reliability, Compatibility, Scalability, Usability</a:t>
            </a:r>
            <a:endParaRPr lang="en-US" dirty="0"/>
          </a:p>
        </p:txBody>
      </p:sp>
      <p:sp>
        <p:nvSpPr>
          <p:cNvPr id="4" name="Slide Number Placeholder 3"/>
          <p:cNvSpPr>
            <a:spLocks noGrp="1"/>
          </p:cNvSpPr>
          <p:nvPr>
            <p:ph type="sldNum" sz="quarter" idx="5"/>
          </p:nvPr>
        </p:nvSpPr>
        <p:spPr/>
        <p:txBody>
          <a:bodyPr/>
          <a:lstStyle/>
          <a:p>
            <a:fld id="{97E5F625-7DDC-48BD-B69C-B97F1D5B5DC0}" type="slidenum">
              <a:rPr lang="en-NZ" smtClean="0"/>
              <a:t>12</a:t>
            </a:fld>
            <a:endParaRPr lang="en-NZ"/>
          </a:p>
        </p:txBody>
      </p:sp>
    </p:spTree>
    <p:extLst>
      <p:ext uri="{BB962C8B-B14F-4D97-AF65-F5344CB8AC3E}">
        <p14:creationId xmlns:p14="http://schemas.microsoft.com/office/powerpoint/2010/main" val="318003995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doing the system requirement analysis, I did UML requirements modelling, which convert </a:t>
            </a:r>
            <a:r>
              <a:rPr lang="en-US" sz="1200" dirty="0">
                <a:solidFill>
                  <a:schemeClr val="tx1"/>
                </a:solidFill>
                <a:latin typeface="Arial" panose="020B0604020202020204" pitchFamily="34" charset="0"/>
                <a:cs typeface="Arial" panose="020B0604020202020204" pitchFamily="34" charset="0"/>
              </a:rPr>
              <a:t>functional requirements into visual system </a:t>
            </a:r>
            <a:r>
              <a:rPr lang="en-US" sz="1200" dirty="0" err="1">
                <a:solidFill>
                  <a:schemeClr val="tx1"/>
                </a:solidFill>
                <a:latin typeface="Arial" panose="020B0604020202020204" pitchFamily="34" charset="0"/>
                <a:cs typeface="Arial" panose="020B0604020202020204" pitchFamily="34" charset="0"/>
              </a:rPr>
              <a:t>behaviour</a:t>
            </a:r>
            <a:endParaRPr lang="en-US" dirty="0"/>
          </a:p>
        </p:txBody>
      </p:sp>
      <p:sp>
        <p:nvSpPr>
          <p:cNvPr id="4" name="Slide Number Placeholder 3"/>
          <p:cNvSpPr>
            <a:spLocks noGrp="1"/>
          </p:cNvSpPr>
          <p:nvPr>
            <p:ph type="sldNum" sz="quarter" idx="5"/>
          </p:nvPr>
        </p:nvSpPr>
        <p:spPr/>
        <p:txBody>
          <a:bodyPr/>
          <a:lstStyle/>
          <a:p>
            <a:fld id="{97E5F625-7DDC-48BD-B69C-B97F1D5B5DC0}" type="slidenum">
              <a:rPr lang="en-NZ" smtClean="0"/>
              <a:t>13</a:t>
            </a:fld>
            <a:endParaRPr lang="en-NZ"/>
          </a:p>
        </p:txBody>
      </p:sp>
    </p:spTree>
    <p:extLst>
      <p:ext uri="{BB962C8B-B14F-4D97-AF65-F5344CB8AC3E}">
        <p14:creationId xmlns:p14="http://schemas.microsoft.com/office/powerpoint/2010/main" val="340640884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Frist step is defining system actor, I  defined some primary actor including student, </a:t>
            </a:r>
            <a:r>
              <a:rPr lang="en-US" sz="1200" dirty="0">
                <a:solidFill>
                  <a:schemeClr val="tx1"/>
                </a:solidFill>
                <a:latin typeface="Arial" panose="020B0604020202020204" pitchFamily="34" charset="0"/>
                <a:cs typeface="Arial" panose="020B0604020202020204" pitchFamily="34" charset="0"/>
              </a:rPr>
              <a:t>Academic Department Staff, Academic Registry Staff, Finance Staff, System Administrator, IT Staff</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latin typeface="Arial" panose="020B0604020202020204" pitchFamily="34" charset="0"/>
                <a:cs typeface="Arial" panose="020B0604020202020204" pitchFamily="34" charset="0"/>
              </a:rPr>
              <a:t>Beside primary actor, there are also external system actor including Student Information System, Course Information System, Finance System, HR System</a:t>
            </a:r>
            <a:endParaRPr lang="en-NZ" noProof="0" dirty="0">
              <a:solidFill>
                <a:schemeClr val="tx1"/>
              </a:solidFill>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solidFill>
                <a:schemeClr val="tx1"/>
              </a:solidFill>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solidFill>
                <a:schemeClr val="tx1"/>
              </a:solidFill>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solidFill>
                <a:schemeClr val="tx1"/>
              </a:solidFill>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solidFill>
                <a:schemeClr val="tx1"/>
              </a:solidFill>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solidFill>
                <a:schemeClr val="tx1"/>
              </a:solidFill>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solidFill>
                <a:schemeClr val="tx1"/>
              </a:solidFill>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solidFill>
                <a:schemeClr val="tx1"/>
              </a:solidFill>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97E5F625-7DDC-48BD-B69C-B97F1D5B5DC0}" type="slidenum">
              <a:rPr lang="en-NZ" smtClean="0"/>
              <a:t>14</a:t>
            </a:fld>
            <a:endParaRPr lang="en-NZ"/>
          </a:p>
        </p:txBody>
      </p:sp>
    </p:spTree>
    <p:extLst>
      <p:ext uri="{BB962C8B-B14F-4D97-AF65-F5344CB8AC3E}">
        <p14:creationId xmlns:p14="http://schemas.microsoft.com/office/powerpoint/2010/main" val="89998026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defining actor, I identifying there use case which are similar to the functional requirement</a:t>
            </a:r>
          </a:p>
          <a:p>
            <a:endParaRPr lang="en-US" dirty="0"/>
          </a:p>
        </p:txBody>
      </p:sp>
      <p:sp>
        <p:nvSpPr>
          <p:cNvPr id="4" name="Slide Number Placeholder 3"/>
          <p:cNvSpPr>
            <a:spLocks noGrp="1"/>
          </p:cNvSpPr>
          <p:nvPr>
            <p:ph type="sldNum" sz="quarter" idx="5"/>
          </p:nvPr>
        </p:nvSpPr>
        <p:spPr/>
        <p:txBody>
          <a:bodyPr/>
          <a:lstStyle/>
          <a:p>
            <a:fld id="{97E5F625-7DDC-48BD-B69C-B97F1D5B5DC0}" type="slidenum">
              <a:rPr lang="en-NZ" smtClean="0"/>
              <a:t>15</a:t>
            </a:fld>
            <a:endParaRPr lang="en-NZ"/>
          </a:p>
        </p:txBody>
      </p:sp>
    </p:spTree>
    <p:extLst>
      <p:ext uri="{BB962C8B-B14F-4D97-AF65-F5344CB8AC3E}">
        <p14:creationId xmlns:p14="http://schemas.microsoft.com/office/powerpoint/2010/main" val="227920691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next step, I identified the use case relationships, which are include, extend, and </a:t>
            </a:r>
            <a:r>
              <a:rPr lang="en-US" dirty="0" err="1"/>
              <a:t>generalisation</a:t>
            </a:r>
            <a:endParaRPr lang="en-US" dirty="0"/>
          </a:p>
        </p:txBody>
      </p:sp>
      <p:sp>
        <p:nvSpPr>
          <p:cNvPr id="4" name="Slide Number Placeholder 3"/>
          <p:cNvSpPr>
            <a:spLocks noGrp="1"/>
          </p:cNvSpPr>
          <p:nvPr>
            <p:ph type="sldNum" sz="quarter" idx="5"/>
          </p:nvPr>
        </p:nvSpPr>
        <p:spPr/>
        <p:txBody>
          <a:bodyPr/>
          <a:lstStyle/>
          <a:p>
            <a:fld id="{97E5F625-7DDC-48BD-B69C-B97F1D5B5DC0}" type="slidenum">
              <a:rPr lang="en-NZ" smtClean="0"/>
              <a:t>16</a:t>
            </a:fld>
            <a:endParaRPr lang="en-NZ"/>
          </a:p>
        </p:txBody>
      </p:sp>
    </p:spTree>
    <p:extLst>
      <p:ext uri="{BB962C8B-B14F-4D97-AF65-F5344CB8AC3E}">
        <p14:creationId xmlns:p14="http://schemas.microsoft.com/office/powerpoint/2010/main" val="41863076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0D7B6D0-81AC-4326-898E-366FD1020086}" type="datetimeFigureOut">
              <a:rPr lang="en-NZ" smtClean="0"/>
              <a:t>31/05/2026</a:t>
            </a:fld>
            <a:endParaRPr lang="en-NZ"/>
          </a:p>
        </p:txBody>
      </p:sp>
      <p:sp>
        <p:nvSpPr>
          <p:cNvPr id="5" name="Footer Placeholder 4"/>
          <p:cNvSpPr>
            <a:spLocks noGrp="1"/>
          </p:cNvSpPr>
          <p:nvPr>
            <p:ph type="ftr" sz="quarter" idx="11"/>
          </p:nvPr>
        </p:nvSpPr>
        <p:spPr/>
        <p:txBody>
          <a:bodyPr/>
          <a:lstStyle/>
          <a:p>
            <a:endParaRPr lang="en-NZ"/>
          </a:p>
        </p:txBody>
      </p:sp>
      <p:sp>
        <p:nvSpPr>
          <p:cNvPr id="6" name="Slide Number Placeholder 5"/>
          <p:cNvSpPr>
            <a:spLocks noGrp="1"/>
          </p:cNvSpPr>
          <p:nvPr>
            <p:ph type="sldNum" sz="quarter" idx="12"/>
          </p:nvPr>
        </p:nvSpPr>
        <p:spPr/>
        <p:txBody>
          <a:bodyPr/>
          <a:lstStyle/>
          <a:p>
            <a:fld id="{9470F8D0-A148-4D9D-812E-F3AB4DB67BFC}" type="slidenum">
              <a:rPr lang="en-NZ" smtClean="0"/>
              <a:t>‹#›</a:t>
            </a:fld>
            <a:endParaRPr lang="en-NZ"/>
          </a:p>
        </p:txBody>
      </p:sp>
    </p:spTree>
    <p:extLst>
      <p:ext uri="{BB962C8B-B14F-4D97-AF65-F5344CB8AC3E}">
        <p14:creationId xmlns:p14="http://schemas.microsoft.com/office/powerpoint/2010/main" val="28844051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0D7B6D0-81AC-4326-898E-366FD1020086}" type="datetimeFigureOut">
              <a:rPr lang="en-NZ" smtClean="0"/>
              <a:t>31/05/2026</a:t>
            </a:fld>
            <a:endParaRPr lang="en-NZ"/>
          </a:p>
        </p:txBody>
      </p:sp>
      <p:sp>
        <p:nvSpPr>
          <p:cNvPr id="5" name="Footer Placeholder 4"/>
          <p:cNvSpPr>
            <a:spLocks noGrp="1"/>
          </p:cNvSpPr>
          <p:nvPr>
            <p:ph type="ftr" sz="quarter" idx="11"/>
          </p:nvPr>
        </p:nvSpPr>
        <p:spPr/>
        <p:txBody>
          <a:bodyPr/>
          <a:lstStyle/>
          <a:p>
            <a:endParaRPr lang="en-NZ"/>
          </a:p>
        </p:txBody>
      </p:sp>
      <p:sp>
        <p:nvSpPr>
          <p:cNvPr id="6" name="Slide Number Placeholder 5"/>
          <p:cNvSpPr>
            <a:spLocks noGrp="1"/>
          </p:cNvSpPr>
          <p:nvPr>
            <p:ph type="sldNum" sz="quarter" idx="12"/>
          </p:nvPr>
        </p:nvSpPr>
        <p:spPr/>
        <p:txBody>
          <a:bodyPr/>
          <a:lstStyle/>
          <a:p>
            <a:fld id="{9470F8D0-A148-4D9D-812E-F3AB4DB67BFC}" type="slidenum">
              <a:rPr lang="en-NZ" smtClean="0"/>
              <a:t>‹#›</a:t>
            </a:fld>
            <a:endParaRPr lang="en-NZ"/>
          </a:p>
        </p:txBody>
      </p:sp>
    </p:spTree>
    <p:extLst>
      <p:ext uri="{BB962C8B-B14F-4D97-AF65-F5344CB8AC3E}">
        <p14:creationId xmlns:p14="http://schemas.microsoft.com/office/powerpoint/2010/main" val="26818106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0D7B6D0-81AC-4326-898E-366FD1020086}" type="datetimeFigureOut">
              <a:rPr lang="en-NZ" smtClean="0"/>
              <a:t>31/05/2026</a:t>
            </a:fld>
            <a:endParaRPr lang="en-NZ"/>
          </a:p>
        </p:txBody>
      </p:sp>
      <p:sp>
        <p:nvSpPr>
          <p:cNvPr id="5" name="Footer Placeholder 4"/>
          <p:cNvSpPr>
            <a:spLocks noGrp="1"/>
          </p:cNvSpPr>
          <p:nvPr>
            <p:ph type="ftr" sz="quarter" idx="11"/>
          </p:nvPr>
        </p:nvSpPr>
        <p:spPr/>
        <p:txBody>
          <a:bodyPr/>
          <a:lstStyle/>
          <a:p>
            <a:endParaRPr lang="en-NZ"/>
          </a:p>
        </p:txBody>
      </p:sp>
      <p:sp>
        <p:nvSpPr>
          <p:cNvPr id="6" name="Slide Number Placeholder 5"/>
          <p:cNvSpPr>
            <a:spLocks noGrp="1"/>
          </p:cNvSpPr>
          <p:nvPr>
            <p:ph type="sldNum" sz="quarter" idx="12"/>
          </p:nvPr>
        </p:nvSpPr>
        <p:spPr/>
        <p:txBody>
          <a:bodyPr/>
          <a:lstStyle/>
          <a:p>
            <a:fld id="{9470F8D0-A148-4D9D-812E-F3AB4DB67BFC}" type="slidenum">
              <a:rPr lang="en-NZ" smtClean="0"/>
              <a:t>‹#›</a:t>
            </a:fld>
            <a:endParaRPr lang="en-NZ"/>
          </a:p>
        </p:txBody>
      </p:sp>
    </p:spTree>
    <p:extLst>
      <p:ext uri="{BB962C8B-B14F-4D97-AF65-F5344CB8AC3E}">
        <p14:creationId xmlns:p14="http://schemas.microsoft.com/office/powerpoint/2010/main" val="19740605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0D7B6D0-81AC-4326-898E-366FD1020086}" type="datetimeFigureOut">
              <a:rPr lang="en-NZ" smtClean="0"/>
              <a:t>31/05/2026</a:t>
            </a:fld>
            <a:endParaRPr lang="en-NZ"/>
          </a:p>
        </p:txBody>
      </p:sp>
      <p:sp>
        <p:nvSpPr>
          <p:cNvPr id="6" name="Footer Placeholder 5"/>
          <p:cNvSpPr>
            <a:spLocks noGrp="1"/>
          </p:cNvSpPr>
          <p:nvPr>
            <p:ph type="ftr" sz="quarter" idx="11"/>
          </p:nvPr>
        </p:nvSpPr>
        <p:spPr/>
        <p:txBody>
          <a:bodyPr/>
          <a:lstStyle/>
          <a:p>
            <a:endParaRPr lang="en-NZ"/>
          </a:p>
        </p:txBody>
      </p:sp>
      <p:sp>
        <p:nvSpPr>
          <p:cNvPr id="7" name="Slide Number Placeholder 6"/>
          <p:cNvSpPr>
            <a:spLocks noGrp="1"/>
          </p:cNvSpPr>
          <p:nvPr>
            <p:ph type="sldNum" sz="quarter" idx="12"/>
          </p:nvPr>
        </p:nvSpPr>
        <p:spPr/>
        <p:txBody>
          <a:bodyPr/>
          <a:lstStyle/>
          <a:p>
            <a:fld id="{9470F8D0-A148-4D9D-812E-F3AB4DB67BFC}" type="slidenum">
              <a:rPr lang="en-NZ" smtClean="0"/>
              <a:t>‹#›</a:t>
            </a:fld>
            <a:endParaRPr lang="en-NZ"/>
          </a:p>
        </p:txBody>
      </p:sp>
    </p:spTree>
    <p:extLst>
      <p:ext uri="{BB962C8B-B14F-4D97-AF65-F5344CB8AC3E}">
        <p14:creationId xmlns:p14="http://schemas.microsoft.com/office/powerpoint/2010/main" val="20063250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0D7B6D0-81AC-4326-898E-366FD1020086}" type="datetimeFigureOut">
              <a:rPr lang="en-NZ" smtClean="0"/>
              <a:t>31/05/2026</a:t>
            </a:fld>
            <a:endParaRPr lang="en-NZ"/>
          </a:p>
        </p:txBody>
      </p:sp>
      <p:sp>
        <p:nvSpPr>
          <p:cNvPr id="8" name="Footer Placeholder 7"/>
          <p:cNvSpPr>
            <a:spLocks noGrp="1"/>
          </p:cNvSpPr>
          <p:nvPr>
            <p:ph type="ftr" sz="quarter" idx="11"/>
          </p:nvPr>
        </p:nvSpPr>
        <p:spPr/>
        <p:txBody>
          <a:bodyPr/>
          <a:lstStyle/>
          <a:p>
            <a:endParaRPr lang="en-NZ"/>
          </a:p>
        </p:txBody>
      </p:sp>
      <p:sp>
        <p:nvSpPr>
          <p:cNvPr id="9" name="Slide Number Placeholder 8"/>
          <p:cNvSpPr>
            <a:spLocks noGrp="1"/>
          </p:cNvSpPr>
          <p:nvPr>
            <p:ph type="sldNum" sz="quarter" idx="12"/>
          </p:nvPr>
        </p:nvSpPr>
        <p:spPr/>
        <p:txBody>
          <a:bodyPr/>
          <a:lstStyle/>
          <a:p>
            <a:fld id="{9470F8D0-A148-4D9D-812E-F3AB4DB67BFC}" type="slidenum">
              <a:rPr lang="en-NZ" smtClean="0"/>
              <a:t>‹#›</a:t>
            </a:fld>
            <a:endParaRPr lang="en-NZ"/>
          </a:p>
        </p:txBody>
      </p:sp>
    </p:spTree>
    <p:extLst>
      <p:ext uri="{BB962C8B-B14F-4D97-AF65-F5344CB8AC3E}">
        <p14:creationId xmlns:p14="http://schemas.microsoft.com/office/powerpoint/2010/main" val="15883793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0D7B6D0-81AC-4326-898E-366FD1020086}" type="datetimeFigureOut">
              <a:rPr lang="en-NZ" smtClean="0"/>
              <a:t>31/05/2026</a:t>
            </a:fld>
            <a:endParaRPr lang="en-NZ"/>
          </a:p>
        </p:txBody>
      </p:sp>
      <p:sp>
        <p:nvSpPr>
          <p:cNvPr id="4" name="Footer Placeholder 3"/>
          <p:cNvSpPr>
            <a:spLocks noGrp="1"/>
          </p:cNvSpPr>
          <p:nvPr>
            <p:ph type="ftr" sz="quarter" idx="11"/>
          </p:nvPr>
        </p:nvSpPr>
        <p:spPr/>
        <p:txBody>
          <a:bodyPr/>
          <a:lstStyle/>
          <a:p>
            <a:endParaRPr lang="en-NZ"/>
          </a:p>
        </p:txBody>
      </p:sp>
      <p:sp>
        <p:nvSpPr>
          <p:cNvPr id="5" name="Slide Number Placeholder 4"/>
          <p:cNvSpPr>
            <a:spLocks noGrp="1"/>
          </p:cNvSpPr>
          <p:nvPr>
            <p:ph type="sldNum" sz="quarter" idx="12"/>
          </p:nvPr>
        </p:nvSpPr>
        <p:spPr/>
        <p:txBody>
          <a:bodyPr/>
          <a:lstStyle/>
          <a:p>
            <a:fld id="{9470F8D0-A148-4D9D-812E-F3AB4DB67BFC}" type="slidenum">
              <a:rPr lang="en-NZ" smtClean="0"/>
              <a:t>‹#›</a:t>
            </a:fld>
            <a:endParaRPr lang="en-NZ"/>
          </a:p>
        </p:txBody>
      </p:sp>
    </p:spTree>
    <p:extLst>
      <p:ext uri="{BB962C8B-B14F-4D97-AF65-F5344CB8AC3E}">
        <p14:creationId xmlns:p14="http://schemas.microsoft.com/office/powerpoint/2010/main" val="41160822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0D7B6D0-81AC-4326-898E-366FD1020086}" type="datetimeFigureOut">
              <a:rPr lang="en-NZ" smtClean="0"/>
              <a:t>31/05/2026</a:t>
            </a:fld>
            <a:endParaRPr lang="en-NZ"/>
          </a:p>
        </p:txBody>
      </p:sp>
      <p:sp>
        <p:nvSpPr>
          <p:cNvPr id="3" name="Footer Placeholder 2"/>
          <p:cNvSpPr>
            <a:spLocks noGrp="1"/>
          </p:cNvSpPr>
          <p:nvPr>
            <p:ph type="ftr" sz="quarter" idx="11"/>
          </p:nvPr>
        </p:nvSpPr>
        <p:spPr/>
        <p:txBody>
          <a:bodyPr/>
          <a:lstStyle/>
          <a:p>
            <a:endParaRPr lang="en-NZ"/>
          </a:p>
        </p:txBody>
      </p:sp>
      <p:sp>
        <p:nvSpPr>
          <p:cNvPr id="4" name="Slide Number Placeholder 3"/>
          <p:cNvSpPr>
            <a:spLocks noGrp="1"/>
          </p:cNvSpPr>
          <p:nvPr>
            <p:ph type="sldNum" sz="quarter" idx="12"/>
          </p:nvPr>
        </p:nvSpPr>
        <p:spPr/>
        <p:txBody>
          <a:bodyPr/>
          <a:lstStyle/>
          <a:p>
            <a:fld id="{9470F8D0-A148-4D9D-812E-F3AB4DB67BFC}" type="slidenum">
              <a:rPr lang="en-NZ" smtClean="0"/>
              <a:t>‹#›</a:t>
            </a:fld>
            <a:endParaRPr lang="en-NZ"/>
          </a:p>
        </p:txBody>
      </p:sp>
    </p:spTree>
    <p:extLst>
      <p:ext uri="{BB962C8B-B14F-4D97-AF65-F5344CB8AC3E}">
        <p14:creationId xmlns:p14="http://schemas.microsoft.com/office/powerpoint/2010/main" val="31275957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0D7B6D0-81AC-4326-898E-366FD1020086}" type="datetimeFigureOut">
              <a:rPr lang="en-NZ" smtClean="0"/>
              <a:t>31/05/2026</a:t>
            </a:fld>
            <a:endParaRPr lang="en-NZ"/>
          </a:p>
        </p:txBody>
      </p:sp>
      <p:sp>
        <p:nvSpPr>
          <p:cNvPr id="6" name="Footer Placeholder 5"/>
          <p:cNvSpPr>
            <a:spLocks noGrp="1"/>
          </p:cNvSpPr>
          <p:nvPr>
            <p:ph type="ftr" sz="quarter" idx="11"/>
          </p:nvPr>
        </p:nvSpPr>
        <p:spPr/>
        <p:txBody>
          <a:bodyPr/>
          <a:lstStyle/>
          <a:p>
            <a:endParaRPr lang="en-NZ"/>
          </a:p>
        </p:txBody>
      </p:sp>
      <p:sp>
        <p:nvSpPr>
          <p:cNvPr id="7" name="Slide Number Placeholder 6"/>
          <p:cNvSpPr>
            <a:spLocks noGrp="1"/>
          </p:cNvSpPr>
          <p:nvPr>
            <p:ph type="sldNum" sz="quarter" idx="12"/>
          </p:nvPr>
        </p:nvSpPr>
        <p:spPr/>
        <p:txBody>
          <a:bodyPr/>
          <a:lstStyle/>
          <a:p>
            <a:fld id="{9470F8D0-A148-4D9D-812E-F3AB4DB67BFC}" type="slidenum">
              <a:rPr lang="en-NZ" smtClean="0"/>
              <a:t>‹#›</a:t>
            </a:fld>
            <a:endParaRPr lang="en-NZ"/>
          </a:p>
        </p:txBody>
      </p:sp>
    </p:spTree>
    <p:extLst>
      <p:ext uri="{BB962C8B-B14F-4D97-AF65-F5344CB8AC3E}">
        <p14:creationId xmlns:p14="http://schemas.microsoft.com/office/powerpoint/2010/main" val="5067467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0D7B6D0-81AC-4326-898E-366FD1020086}" type="datetimeFigureOut">
              <a:rPr lang="en-NZ" smtClean="0"/>
              <a:t>31/05/2026</a:t>
            </a:fld>
            <a:endParaRPr lang="en-NZ"/>
          </a:p>
        </p:txBody>
      </p:sp>
      <p:sp>
        <p:nvSpPr>
          <p:cNvPr id="6" name="Footer Placeholder 5"/>
          <p:cNvSpPr>
            <a:spLocks noGrp="1"/>
          </p:cNvSpPr>
          <p:nvPr>
            <p:ph type="ftr" sz="quarter" idx="11"/>
          </p:nvPr>
        </p:nvSpPr>
        <p:spPr/>
        <p:txBody>
          <a:bodyPr/>
          <a:lstStyle/>
          <a:p>
            <a:endParaRPr lang="en-NZ"/>
          </a:p>
        </p:txBody>
      </p:sp>
      <p:sp>
        <p:nvSpPr>
          <p:cNvPr id="7" name="Slide Number Placeholder 6"/>
          <p:cNvSpPr>
            <a:spLocks noGrp="1"/>
          </p:cNvSpPr>
          <p:nvPr>
            <p:ph type="sldNum" sz="quarter" idx="12"/>
          </p:nvPr>
        </p:nvSpPr>
        <p:spPr/>
        <p:txBody>
          <a:bodyPr/>
          <a:lstStyle/>
          <a:p>
            <a:fld id="{9470F8D0-A148-4D9D-812E-F3AB4DB67BFC}" type="slidenum">
              <a:rPr lang="en-NZ" smtClean="0"/>
              <a:t>‹#›</a:t>
            </a:fld>
            <a:endParaRPr lang="en-NZ"/>
          </a:p>
        </p:txBody>
      </p:sp>
    </p:spTree>
    <p:extLst>
      <p:ext uri="{BB962C8B-B14F-4D97-AF65-F5344CB8AC3E}">
        <p14:creationId xmlns:p14="http://schemas.microsoft.com/office/powerpoint/2010/main" val="38864189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0D7B6D0-81AC-4326-898E-366FD1020086}" type="datetimeFigureOut">
              <a:rPr lang="en-NZ" smtClean="0"/>
              <a:t>31/05/2026</a:t>
            </a:fld>
            <a:endParaRPr lang="en-NZ"/>
          </a:p>
        </p:txBody>
      </p:sp>
      <p:sp>
        <p:nvSpPr>
          <p:cNvPr id="5" name="Footer Placeholder 4"/>
          <p:cNvSpPr>
            <a:spLocks noGrp="1"/>
          </p:cNvSpPr>
          <p:nvPr>
            <p:ph type="ftr" sz="quarter" idx="11"/>
          </p:nvPr>
        </p:nvSpPr>
        <p:spPr/>
        <p:txBody>
          <a:bodyPr/>
          <a:lstStyle/>
          <a:p>
            <a:endParaRPr lang="en-NZ"/>
          </a:p>
        </p:txBody>
      </p:sp>
      <p:sp>
        <p:nvSpPr>
          <p:cNvPr id="6" name="Slide Number Placeholder 5"/>
          <p:cNvSpPr>
            <a:spLocks noGrp="1"/>
          </p:cNvSpPr>
          <p:nvPr>
            <p:ph type="sldNum" sz="quarter" idx="12"/>
          </p:nvPr>
        </p:nvSpPr>
        <p:spPr/>
        <p:txBody>
          <a:bodyPr/>
          <a:lstStyle/>
          <a:p>
            <a:fld id="{9470F8D0-A148-4D9D-812E-F3AB4DB67BFC}" type="slidenum">
              <a:rPr lang="en-NZ" smtClean="0"/>
              <a:t>‹#›</a:t>
            </a:fld>
            <a:endParaRPr lang="en-NZ"/>
          </a:p>
        </p:txBody>
      </p:sp>
    </p:spTree>
    <p:extLst>
      <p:ext uri="{BB962C8B-B14F-4D97-AF65-F5344CB8AC3E}">
        <p14:creationId xmlns:p14="http://schemas.microsoft.com/office/powerpoint/2010/main" val="39361050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0D7B6D0-81AC-4326-898E-366FD1020086}" type="datetimeFigureOut">
              <a:rPr lang="en-NZ" smtClean="0"/>
              <a:t>31/05/2026</a:t>
            </a:fld>
            <a:endParaRPr lang="en-NZ"/>
          </a:p>
        </p:txBody>
      </p:sp>
      <p:sp>
        <p:nvSpPr>
          <p:cNvPr id="5" name="Footer Placeholder 4"/>
          <p:cNvSpPr>
            <a:spLocks noGrp="1"/>
          </p:cNvSpPr>
          <p:nvPr>
            <p:ph type="ftr" sz="quarter" idx="11"/>
          </p:nvPr>
        </p:nvSpPr>
        <p:spPr/>
        <p:txBody>
          <a:bodyPr/>
          <a:lstStyle/>
          <a:p>
            <a:endParaRPr lang="en-NZ"/>
          </a:p>
        </p:txBody>
      </p:sp>
      <p:sp>
        <p:nvSpPr>
          <p:cNvPr id="6" name="Slide Number Placeholder 5"/>
          <p:cNvSpPr>
            <a:spLocks noGrp="1"/>
          </p:cNvSpPr>
          <p:nvPr>
            <p:ph type="sldNum" sz="quarter" idx="12"/>
          </p:nvPr>
        </p:nvSpPr>
        <p:spPr/>
        <p:txBody>
          <a:bodyPr/>
          <a:lstStyle/>
          <a:p>
            <a:fld id="{9470F8D0-A148-4D9D-812E-F3AB4DB67BFC}" type="slidenum">
              <a:rPr lang="en-NZ" smtClean="0"/>
              <a:t>‹#›</a:t>
            </a:fld>
            <a:endParaRPr lang="en-NZ"/>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345095100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0D7B6D0-81AC-4326-898E-366FD1020086}" type="datetimeFigureOut">
              <a:rPr lang="en-NZ" smtClean="0"/>
              <a:t>31/05/2026</a:t>
            </a:fld>
            <a:endParaRPr lang="en-NZ"/>
          </a:p>
        </p:txBody>
      </p:sp>
      <p:sp>
        <p:nvSpPr>
          <p:cNvPr id="5" name="Footer Placeholder 4"/>
          <p:cNvSpPr>
            <a:spLocks noGrp="1"/>
          </p:cNvSpPr>
          <p:nvPr>
            <p:ph type="ftr" sz="quarter" idx="11"/>
          </p:nvPr>
        </p:nvSpPr>
        <p:spPr/>
        <p:txBody>
          <a:bodyPr/>
          <a:lstStyle/>
          <a:p>
            <a:endParaRPr lang="en-NZ"/>
          </a:p>
        </p:txBody>
      </p:sp>
      <p:sp>
        <p:nvSpPr>
          <p:cNvPr id="6" name="Slide Number Placeholder 5"/>
          <p:cNvSpPr>
            <a:spLocks noGrp="1"/>
          </p:cNvSpPr>
          <p:nvPr>
            <p:ph type="sldNum" sz="quarter" idx="12"/>
          </p:nvPr>
        </p:nvSpPr>
        <p:spPr/>
        <p:txBody>
          <a:bodyPr/>
          <a:lstStyle/>
          <a:p>
            <a:fld id="{9470F8D0-A148-4D9D-812E-F3AB4DB67BFC}" type="slidenum">
              <a:rPr lang="en-NZ" smtClean="0"/>
              <a:t>‹#›</a:t>
            </a:fld>
            <a:endParaRPr lang="en-NZ"/>
          </a:p>
        </p:txBody>
      </p:sp>
    </p:spTree>
    <p:extLst>
      <p:ext uri="{BB962C8B-B14F-4D97-AF65-F5344CB8AC3E}">
        <p14:creationId xmlns:p14="http://schemas.microsoft.com/office/powerpoint/2010/main" val="405670663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0D7B6D0-81AC-4326-898E-366FD1020086}" type="datetimeFigureOut">
              <a:rPr lang="en-NZ" smtClean="0"/>
              <a:t>31/05/2026</a:t>
            </a:fld>
            <a:endParaRPr lang="en-NZ"/>
          </a:p>
        </p:txBody>
      </p:sp>
      <p:sp>
        <p:nvSpPr>
          <p:cNvPr id="5" name="Footer Placeholder 4"/>
          <p:cNvSpPr>
            <a:spLocks noGrp="1"/>
          </p:cNvSpPr>
          <p:nvPr>
            <p:ph type="ftr" sz="quarter" idx="11"/>
          </p:nvPr>
        </p:nvSpPr>
        <p:spPr/>
        <p:txBody>
          <a:bodyPr/>
          <a:lstStyle/>
          <a:p>
            <a:endParaRPr lang="en-NZ"/>
          </a:p>
        </p:txBody>
      </p:sp>
      <p:sp>
        <p:nvSpPr>
          <p:cNvPr id="6" name="Slide Number Placeholder 5"/>
          <p:cNvSpPr>
            <a:spLocks noGrp="1"/>
          </p:cNvSpPr>
          <p:nvPr>
            <p:ph type="sldNum" sz="quarter" idx="12"/>
          </p:nvPr>
        </p:nvSpPr>
        <p:spPr/>
        <p:txBody>
          <a:bodyPr/>
          <a:lstStyle/>
          <a:p>
            <a:fld id="{9470F8D0-A148-4D9D-812E-F3AB4DB67BFC}" type="slidenum">
              <a:rPr lang="en-NZ" smtClean="0"/>
              <a:t>‹#›</a:t>
            </a:fld>
            <a:endParaRPr lang="en-NZ"/>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78550203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0D7B6D0-81AC-4326-898E-366FD1020086}" type="datetimeFigureOut">
              <a:rPr lang="en-NZ" smtClean="0"/>
              <a:t>31/05/2026</a:t>
            </a:fld>
            <a:endParaRPr lang="en-NZ"/>
          </a:p>
        </p:txBody>
      </p:sp>
      <p:sp>
        <p:nvSpPr>
          <p:cNvPr id="5" name="Footer Placeholder 4"/>
          <p:cNvSpPr>
            <a:spLocks noGrp="1"/>
          </p:cNvSpPr>
          <p:nvPr>
            <p:ph type="ftr" sz="quarter" idx="11"/>
          </p:nvPr>
        </p:nvSpPr>
        <p:spPr/>
        <p:txBody>
          <a:bodyPr/>
          <a:lstStyle/>
          <a:p>
            <a:endParaRPr lang="en-NZ"/>
          </a:p>
        </p:txBody>
      </p:sp>
      <p:sp>
        <p:nvSpPr>
          <p:cNvPr id="6" name="Slide Number Placeholder 5"/>
          <p:cNvSpPr>
            <a:spLocks noGrp="1"/>
          </p:cNvSpPr>
          <p:nvPr>
            <p:ph type="sldNum" sz="quarter" idx="12"/>
          </p:nvPr>
        </p:nvSpPr>
        <p:spPr/>
        <p:txBody>
          <a:bodyPr/>
          <a:lstStyle/>
          <a:p>
            <a:fld id="{9470F8D0-A148-4D9D-812E-F3AB4DB67BFC}" type="slidenum">
              <a:rPr lang="en-NZ" smtClean="0"/>
              <a:t>‹#›</a:t>
            </a:fld>
            <a:endParaRPr lang="en-NZ"/>
          </a:p>
        </p:txBody>
      </p:sp>
    </p:spTree>
    <p:extLst>
      <p:ext uri="{BB962C8B-B14F-4D97-AF65-F5344CB8AC3E}">
        <p14:creationId xmlns:p14="http://schemas.microsoft.com/office/powerpoint/2010/main" val="71013994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0D7B6D0-81AC-4326-898E-366FD1020086}" type="datetimeFigureOut">
              <a:rPr lang="en-NZ" smtClean="0"/>
              <a:t>31/05/2026</a:t>
            </a:fld>
            <a:endParaRPr lang="en-NZ"/>
          </a:p>
        </p:txBody>
      </p:sp>
      <p:sp>
        <p:nvSpPr>
          <p:cNvPr id="5" name="Footer Placeholder 4"/>
          <p:cNvSpPr>
            <a:spLocks noGrp="1"/>
          </p:cNvSpPr>
          <p:nvPr>
            <p:ph type="ftr" sz="quarter" idx="11"/>
          </p:nvPr>
        </p:nvSpPr>
        <p:spPr/>
        <p:txBody>
          <a:bodyPr/>
          <a:lstStyle/>
          <a:p>
            <a:endParaRPr lang="en-NZ"/>
          </a:p>
        </p:txBody>
      </p:sp>
      <p:sp>
        <p:nvSpPr>
          <p:cNvPr id="6" name="Slide Number Placeholder 5"/>
          <p:cNvSpPr>
            <a:spLocks noGrp="1"/>
          </p:cNvSpPr>
          <p:nvPr>
            <p:ph type="sldNum" sz="quarter" idx="12"/>
          </p:nvPr>
        </p:nvSpPr>
        <p:spPr/>
        <p:txBody>
          <a:bodyPr/>
          <a:lstStyle/>
          <a:p>
            <a:fld id="{9470F8D0-A148-4D9D-812E-F3AB4DB67BFC}" type="slidenum">
              <a:rPr lang="en-NZ" smtClean="0"/>
              <a:t>‹#›</a:t>
            </a:fld>
            <a:endParaRPr lang="en-NZ"/>
          </a:p>
        </p:txBody>
      </p:sp>
    </p:spTree>
    <p:extLst>
      <p:ext uri="{BB962C8B-B14F-4D97-AF65-F5344CB8AC3E}">
        <p14:creationId xmlns:p14="http://schemas.microsoft.com/office/powerpoint/2010/main" val="127494879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0D7B6D0-81AC-4326-898E-366FD1020086}" type="datetimeFigureOut">
              <a:rPr lang="en-NZ" smtClean="0"/>
              <a:t>31/05/2026</a:t>
            </a:fld>
            <a:endParaRPr lang="en-NZ"/>
          </a:p>
        </p:txBody>
      </p:sp>
      <p:sp>
        <p:nvSpPr>
          <p:cNvPr id="5" name="Footer Placeholder 4"/>
          <p:cNvSpPr>
            <a:spLocks noGrp="1"/>
          </p:cNvSpPr>
          <p:nvPr>
            <p:ph type="ftr" sz="quarter" idx="11"/>
          </p:nvPr>
        </p:nvSpPr>
        <p:spPr/>
        <p:txBody>
          <a:bodyPr/>
          <a:lstStyle/>
          <a:p>
            <a:endParaRPr lang="en-NZ"/>
          </a:p>
        </p:txBody>
      </p:sp>
      <p:sp>
        <p:nvSpPr>
          <p:cNvPr id="6" name="Slide Number Placeholder 5"/>
          <p:cNvSpPr>
            <a:spLocks noGrp="1"/>
          </p:cNvSpPr>
          <p:nvPr>
            <p:ph type="sldNum" sz="quarter" idx="12"/>
          </p:nvPr>
        </p:nvSpPr>
        <p:spPr/>
        <p:txBody>
          <a:bodyPr/>
          <a:lstStyle/>
          <a:p>
            <a:fld id="{9470F8D0-A148-4D9D-812E-F3AB4DB67BFC}" type="slidenum">
              <a:rPr lang="en-NZ" smtClean="0"/>
              <a:t>‹#›</a:t>
            </a:fld>
            <a:endParaRPr lang="en-NZ"/>
          </a:p>
        </p:txBody>
      </p:sp>
    </p:spTree>
    <p:extLst>
      <p:ext uri="{BB962C8B-B14F-4D97-AF65-F5344CB8AC3E}">
        <p14:creationId xmlns:p14="http://schemas.microsoft.com/office/powerpoint/2010/main" val="16579860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0D7B6D0-81AC-4326-898E-366FD1020086}" type="datetimeFigureOut">
              <a:rPr lang="en-NZ" smtClean="0"/>
              <a:t>31/05/2026</a:t>
            </a:fld>
            <a:endParaRPr lang="en-NZ"/>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NZ"/>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9470F8D0-A148-4D9D-812E-F3AB4DB67BFC}" type="slidenum">
              <a:rPr lang="en-NZ" smtClean="0"/>
              <a:t>‹#›</a:t>
            </a:fld>
            <a:endParaRPr lang="en-NZ"/>
          </a:p>
        </p:txBody>
      </p:sp>
    </p:spTree>
    <p:extLst>
      <p:ext uri="{BB962C8B-B14F-4D97-AF65-F5344CB8AC3E}">
        <p14:creationId xmlns:p14="http://schemas.microsoft.com/office/powerpoint/2010/main" val="3133450112"/>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C15A592-9CD9-83C0-81E7-C3AAAD2726DC}"/>
              </a:ext>
            </a:extLst>
          </p:cNvPr>
          <p:cNvPicPr>
            <a:picLocks noChangeAspect="1"/>
          </p:cNvPicPr>
          <p:nvPr/>
        </p:nvPicPr>
        <p:blipFill>
          <a:blip r:embed="rId3"/>
          <a:srcRect l="25457" r="9565"/>
          <a:stretch>
            <a:fillRect/>
          </a:stretch>
        </p:blipFill>
        <p:spPr>
          <a:xfrm>
            <a:off x="4269854" y="-1"/>
            <a:ext cx="7922146" cy="6858001"/>
          </a:xfrm>
          <a:custGeom>
            <a:avLst/>
            <a:gdLst/>
            <a:ahLst/>
            <a:cxnLst/>
            <a:rect l="l" t="t" r="r" b="b"/>
            <a:pathLst>
              <a:path w="7922146" h="6858001">
                <a:moveTo>
                  <a:pt x="379987" y="0"/>
                </a:moveTo>
                <a:lnTo>
                  <a:pt x="5304971" y="0"/>
                </a:lnTo>
                <a:lnTo>
                  <a:pt x="7065281" y="0"/>
                </a:lnTo>
                <a:lnTo>
                  <a:pt x="7397540" y="0"/>
                </a:lnTo>
                <a:lnTo>
                  <a:pt x="7397540" y="1"/>
                </a:lnTo>
                <a:lnTo>
                  <a:pt x="7922146" y="1"/>
                </a:lnTo>
                <a:lnTo>
                  <a:pt x="7922146" y="6858001"/>
                </a:lnTo>
                <a:lnTo>
                  <a:pt x="7065281" y="6858001"/>
                </a:lnTo>
                <a:lnTo>
                  <a:pt x="7065281" y="6858000"/>
                </a:lnTo>
                <a:lnTo>
                  <a:pt x="5932989" y="6858000"/>
                </a:lnTo>
                <a:lnTo>
                  <a:pt x="5932989" y="6858001"/>
                </a:lnTo>
                <a:lnTo>
                  <a:pt x="27809" y="6858001"/>
                </a:lnTo>
                <a:lnTo>
                  <a:pt x="1803228" y="4521201"/>
                </a:lnTo>
                <a:close/>
                <a:moveTo>
                  <a:pt x="0" y="0"/>
                </a:moveTo>
                <a:lnTo>
                  <a:pt x="379987" y="0"/>
                </a:lnTo>
                <a:lnTo>
                  <a:pt x="0" y="407"/>
                </a:lnTo>
                <a:close/>
              </a:path>
            </a:pathLst>
          </a:custGeom>
        </p:spPr>
      </p:pic>
      <p:sp>
        <p:nvSpPr>
          <p:cNvPr id="2" name="Title 1">
            <a:extLst>
              <a:ext uri="{FF2B5EF4-FFF2-40B4-BE49-F238E27FC236}">
                <a16:creationId xmlns:a16="http://schemas.microsoft.com/office/drawing/2014/main" id="{7D2E3A5A-3F7F-4506-2AE0-98954C36BA0A}"/>
              </a:ext>
            </a:extLst>
          </p:cNvPr>
          <p:cNvSpPr>
            <a:spLocks noGrp="1"/>
          </p:cNvSpPr>
          <p:nvPr>
            <p:ph type="ctrTitle"/>
          </p:nvPr>
        </p:nvSpPr>
        <p:spPr>
          <a:xfrm>
            <a:off x="411480" y="1678666"/>
            <a:ext cx="4345577" cy="2369093"/>
          </a:xfrm>
        </p:spPr>
        <p:txBody>
          <a:bodyPr>
            <a:normAutofit/>
          </a:bodyPr>
          <a:lstStyle/>
          <a:p>
            <a:pPr>
              <a:lnSpc>
                <a:spcPct val="90000"/>
              </a:lnSpc>
            </a:pPr>
            <a:r>
              <a:rPr lang="en-US" sz="4100" dirty="0">
                <a:latin typeface="Arial" panose="020B0604020202020204" pitchFamily="34" charset="0"/>
                <a:cs typeface="Arial" panose="020B0604020202020204" pitchFamily="34" charset="0"/>
              </a:rPr>
              <a:t>AUT Course Enrolment System Phase 2</a:t>
            </a:r>
            <a:endParaRPr lang="en-NZ" sz="4100" noProof="0" dirty="0">
              <a:latin typeface="Arial" panose="020B0604020202020204" pitchFamily="34" charset="0"/>
              <a:cs typeface="Arial" panose="020B0604020202020204" pitchFamily="34" charset="0"/>
            </a:endParaRPr>
          </a:p>
        </p:txBody>
      </p:sp>
      <p:sp>
        <p:nvSpPr>
          <p:cNvPr id="3" name="Subtitle 2">
            <a:extLst>
              <a:ext uri="{FF2B5EF4-FFF2-40B4-BE49-F238E27FC236}">
                <a16:creationId xmlns:a16="http://schemas.microsoft.com/office/drawing/2014/main" id="{1E8A9966-8154-D810-3F81-347EE49BAFE6}"/>
              </a:ext>
            </a:extLst>
          </p:cNvPr>
          <p:cNvSpPr>
            <a:spLocks noGrp="1"/>
          </p:cNvSpPr>
          <p:nvPr>
            <p:ph type="subTitle" idx="1"/>
          </p:nvPr>
        </p:nvSpPr>
        <p:spPr>
          <a:xfrm>
            <a:off x="677335" y="4050831"/>
            <a:ext cx="4079721" cy="1096901"/>
          </a:xfrm>
        </p:spPr>
        <p:txBody>
          <a:bodyPr>
            <a:normAutofit/>
          </a:bodyPr>
          <a:lstStyle/>
          <a:p>
            <a:r>
              <a:rPr lang="en-NZ" sz="1600" noProof="0" dirty="0">
                <a:latin typeface="Aptos Slab SemiBold" panose="020F0502020204030204" pitchFamily="34" charset="0"/>
                <a:cs typeface="Arabic Typesetting" panose="020F0502020204030204" pitchFamily="66" charset="-78"/>
              </a:rPr>
              <a:t>Presented by Thanh Tran</a:t>
            </a:r>
          </a:p>
        </p:txBody>
      </p:sp>
      <p:cxnSp>
        <p:nvCxnSpPr>
          <p:cNvPr id="9" name="Straight Connector 8">
            <a:extLst>
              <a:ext uri="{FF2B5EF4-FFF2-40B4-BE49-F238E27FC236}">
                <a16:creationId xmlns:a16="http://schemas.microsoft.com/office/drawing/2014/main" id="{A57C1A16-B8AB-4D99-A195-A38F556A648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F8A9B20B-D1DD-4573-B5EC-55802951923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3" name="Rectangle 23">
            <a:extLst>
              <a:ext uri="{FF2B5EF4-FFF2-40B4-BE49-F238E27FC236}">
                <a16:creationId xmlns:a16="http://schemas.microsoft.com/office/drawing/2014/main" id="{66D61E08-70C3-48D8-BEA0-787111DC30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Rectangle 25">
            <a:extLst>
              <a:ext uri="{FF2B5EF4-FFF2-40B4-BE49-F238E27FC236}">
                <a16:creationId xmlns:a16="http://schemas.microsoft.com/office/drawing/2014/main" id="{FC55298F-0AE5-478E-AD2B-03C2614C58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Isosceles Triangle 24">
            <a:extLst>
              <a:ext uri="{FF2B5EF4-FFF2-40B4-BE49-F238E27FC236}">
                <a16:creationId xmlns:a16="http://schemas.microsoft.com/office/drawing/2014/main" id="{C180E4EA-0B63-4779-A895-7E90E71088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Rectangle 27">
            <a:extLst>
              <a:ext uri="{FF2B5EF4-FFF2-40B4-BE49-F238E27FC236}">
                <a16:creationId xmlns:a16="http://schemas.microsoft.com/office/drawing/2014/main" id="{CEE01D9D-3DE8-4EED-B0D3-8F3C79CC76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47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1" name="Rectangle 28">
            <a:extLst>
              <a:ext uri="{FF2B5EF4-FFF2-40B4-BE49-F238E27FC236}">
                <a16:creationId xmlns:a16="http://schemas.microsoft.com/office/drawing/2014/main" id="{89AF5CE9-607F-43F4-8983-DCD6DA4051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Rectangle 29">
            <a:extLst>
              <a:ext uri="{FF2B5EF4-FFF2-40B4-BE49-F238E27FC236}">
                <a16:creationId xmlns:a16="http://schemas.microsoft.com/office/drawing/2014/main" id="{6EEA2DBD-9E1E-4521-8C01-F32AD18A89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5" name="Isosceles Triangle 29">
            <a:extLst>
              <a:ext uri="{FF2B5EF4-FFF2-40B4-BE49-F238E27FC236}">
                <a16:creationId xmlns:a16="http://schemas.microsoft.com/office/drawing/2014/main" id="{15BBD2C1-BA9B-46A9-A27A-33498B1692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25404633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C9141-C5E0-5C3F-C127-F10FAE8A290C}"/>
              </a:ext>
            </a:extLst>
          </p:cNvPr>
          <p:cNvSpPr>
            <a:spLocks noGrp="1"/>
          </p:cNvSpPr>
          <p:nvPr>
            <p:ph type="title"/>
          </p:nvPr>
        </p:nvSpPr>
        <p:spPr>
          <a:xfrm>
            <a:off x="1640156" y="163862"/>
            <a:ext cx="9864456" cy="1280890"/>
          </a:xfrm>
        </p:spPr>
        <p:txBody>
          <a:bodyPr>
            <a:normAutofit/>
          </a:bodyPr>
          <a:lstStyle/>
          <a:p>
            <a:r>
              <a:rPr lang="en-NZ" sz="4000" b="1" dirty="0">
                <a:solidFill>
                  <a:srgbClr val="FF0000"/>
                </a:solidFill>
                <a:latin typeface="Arial" panose="020B0604020202020204" pitchFamily="34" charset="0"/>
                <a:cs typeface="Arial" panose="020B0604020202020204" pitchFamily="34" charset="0"/>
              </a:rPr>
              <a:t>Phase 1’s Class Diagram</a:t>
            </a:r>
            <a:endParaRPr lang="en-NZ" sz="4000" b="1" noProof="0" dirty="0">
              <a:solidFill>
                <a:srgbClr val="FF0000"/>
              </a:solidFill>
              <a:latin typeface="Arial" panose="020B0604020202020204" pitchFamily="34" charset="0"/>
              <a:cs typeface="Arial" panose="020B0604020202020204" pitchFamily="34" charset="0"/>
            </a:endParaRPr>
          </a:p>
        </p:txBody>
      </p:sp>
      <p:sp>
        <p:nvSpPr>
          <p:cNvPr id="5" name="Content Placeholder 4">
            <a:extLst>
              <a:ext uri="{FF2B5EF4-FFF2-40B4-BE49-F238E27FC236}">
                <a16:creationId xmlns:a16="http://schemas.microsoft.com/office/drawing/2014/main" id="{BE6430D8-CFB1-8FBA-28E6-61AF4AA80C15}"/>
              </a:ext>
            </a:extLst>
          </p:cNvPr>
          <p:cNvSpPr>
            <a:spLocks noGrp="1"/>
          </p:cNvSpPr>
          <p:nvPr>
            <p:ph idx="1"/>
          </p:nvPr>
        </p:nvSpPr>
        <p:spPr/>
        <p:txBody>
          <a:bodyPr/>
          <a:lstStyle/>
          <a:p>
            <a:endParaRPr lang="en-US"/>
          </a:p>
        </p:txBody>
      </p:sp>
      <p:pic>
        <p:nvPicPr>
          <p:cNvPr id="6" name="Picture 5">
            <a:extLst>
              <a:ext uri="{FF2B5EF4-FFF2-40B4-BE49-F238E27FC236}">
                <a16:creationId xmlns:a16="http://schemas.microsoft.com/office/drawing/2014/main" id="{AAFE5673-08AE-18B7-D218-23E5B417A05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82168" y="946778"/>
            <a:ext cx="11027663" cy="5760000"/>
          </a:xfrm>
          <a:prstGeom prst="rect">
            <a:avLst/>
          </a:prstGeom>
          <a:noFill/>
          <a:ln>
            <a:solidFill>
              <a:schemeClr val="tx1"/>
            </a:solidFill>
          </a:ln>
        </p:spPr>
      </p:pic>
    </p:spTree>
    <p:extLst>
      <p:ext uri="{BB962C8B-B14F-4D97-AF65-F5344CB8AC3E}">
        <p14:creationId xmlns:p14="http://schemas.microsoft.com/office/powerpoint/2010/main" val="17226065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732862-28D6-6DFF-CD43-9CC543B837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41F3A6-22F1-8D27-4DD6-15E2FF9F96BA}"/>
              </a:ext>
            </a:extLst>
          </p:cNvPr>
          <p:cNvSpPr>
            <a:spLocks noGrp="1"/>
          </p:cNvSpPr>
          <p:nvPr>
            <p:ph type="title"/>
          </p:nvPr>
        </p:nvSpPr>
        <p:spPr>
          <a:xfrm>
            <a:off x="1640156" y="163862"/>
            <a:ext cx="9864456" cy="1280890"/>
          </a:xfrm>
        </p:spPr>
        <p:txBody>
          <a:bodyPr>
            <a:normAutofit/>
          </a:bodyPr>
          <a:lstStyle/>
          <a:p>
            <a:r>
              <a:rPr lang="en-NZ" sz="4000" b="1" dirty="0">
                <a:solidFill>
                  <a:srgbClr val="FF0000"/>
                </a:solidFill>
                <a:latin typeface="Arial" panose="020B0604020202020204" pitchFamily="34" charset="0"/>
                <a:cs typeface="Arial" panose="020B0604020202020204" pitchFamily="34" charset="0"/>
              </a:rPr>
              <a:t>Refined Class Diagram</a:t>
            </a:r>
            <a:endParaRPr lang="en-NZ" sz="4000" b="1" noProof="0" dirty="0">
              <a:solidFill>
                <a:srgbClr val="FF0000"/>
              </a:solidFill>
              <a:latin typeface="Arial" panose="020B0604020202020204" pitchFamily="34" charset="0"/>
              <a:cs typeface="Arial" panose="020B0604020202020204" pitchFamily="34" charset="0"/>
            </a:endParaRPr>
          </a:p>
        </p:txBody>
      </p:sp>
      <p:sp>
        <p:nvSpPr>
          <p:cNvPr id="5" name="Content Placeholder 4">
            <a:extLst>
              <a:ext uri="{FF2B5EF4-FFF2-40B4-BE49-F238E27FC236}">
                <a16:creationId xmlns:a16="http://schemas.microsoft.com/office/drawing/2014/main" id="{77C46A91-E658-D55C-1773-AE04B557CA34}"/>
              </a:ext>
            </a:extLst>
          </p:cNvPr>
          <p:cNvSpPr>
            <a:spLocks noGrp="1"/>
          </p:cNvSpPr>
          <p:nvPr>
            <p:ph idx="1"/>
          </p:nvPr>
        </p:nvSpPr>
        <p:spPr/>
        <p:txBody>
          <a:bodyPr/>
          <a:lstStyle/>
          <a:p>
            <a:endParaRPr lang="en-US"/>
          </a:p>
        </p:txBody>
      </p:sp>
      <p:pic>
        <p:nvPicPr>
          <p:cNvPr id="6" name="Picture 5">
            <a:extLst>
              <a:ext uri="{FF2B5EF4-FFF2-40B4-BE49-F238E27FC236}">
                <a16:creationId xmlns:a16="http://schemas.microsoft.com/office/drawing/2014/main" id="{B3ACEBCB-BDC4-ED6A-FE9C-50C35229C5E9}"/>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16953" y="934138"/>
            <a:ext cx="10958093" cy="5760000"/>
          </a:xfrm>
          <a:prstGeom prst="rect">
            <a:avLst/>
          </a:prstGeom>
          <a:noFill/>
          <a:ln>
            <a:solidFill>
              <a:schemeClr val="tx1"/>
            </a:solidFill>
          </a:ln>
        </p:spPr>
      </p:pic>
    </p:spTree>
    <p:extLst>
      <p:ext uri="{BB962C8B-B14F-4D97-AF65-F5344CB8AC3E}">
        <p14:creationId xmlns:p14="http://schemas.microsoft.com/office/powerpoint/2010/main" val="33502607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4285C2-5B60-3BFF-F35C-9FCA281A34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8AA3F5-389F-E3F9-0C8A-89B9137F09BB}"/>
              </a:ext>
            </a:extLst>
          </p:cNvPr>
          <p:cNvSpPr>
            <a:spLocks noGrp="1"/>
          </p:cNvSpPr>
          <p:nvPr>
            <p:ph type="title"/>
          </p:nvPr>
        </p:nvSpPr>
        <p:spPr>
          <a:xfrm>
            <a:off x="1640156" y="163862"/>
            <a:ext cx="9864456" cy="1280890"/>
          </a:xfrm>
        </p:spPr>
        <p:txBody>
          <a:bodyPr>
            <a:normAutofit/>
          </a:bodyPr>
          <a:lstStyle/>
          <a:p>
            <a:r>
              <a:rPr lang="en-NZ" sz="4000" b="1" dirty="0">
                <a:solidFill>
                  <a:srgbClr val="FF0000"/>
                </a:solidFill>
                <a:latin typeface="Arial" panose="020B0604020202020204" pitchFamily="34" charset="0"/>
                <a:cs typeface="Arial" panose="020B0604020202020204" pitchFamily="34" charset="0"/>
              </a:rPr>
              <a:t>Sequence Diagrams</a:t>
            </a:r>
            <a:endParaRPr lang="en-NZ" sz="4000" b="1" noProof="0" dirty="0">
              <a:solidFill>
                <a:srgbClr val="FF0000"/>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945FE0B7-10B5-74DA-12FC-6ED55ACABB13}"/>
              </a:ext>
            </a:extLst>
          </p:cNvPr>
          <p:cNvSpPr>
            <a:spLocks noGrp="1"/>
          </p:cNvSpPr>
          <p:nvPr>
            <p:ph idx="1"/>
          </p:nvPr>
        </p:nvSpPr>
        <p:spPr>
          <a:xfrm>
            <a:off x="1640156" y="1207008"/>
            <a:ext cx="9864456" cy="5559552"/>
          </a:xfrm>
        </p:spPr>
        <p:txBody>
          <a:bodyPr>
            <a:normAutofit/>
          </a:bodyPr>
          <a:lstStyle/>
          <a:p>
            <a:pPr>
              <a:buFont typeface="Arial" panose="020B0604020202020204" pitchFamily="34" charset="0"/>
              <a:buChar char="•"/>
            </a:pPr>
            <a:r>
              <a:rPr lang="en-AU" sz="2400" noProof="0" dirty="0">
                <a:solidFill>
                  <a:schemeClr val="tx1">
                    <a:lumMod val="95000"/>
                    <a:lumOff val="5000"/>
                  </a:schemeClr>
                </a:solidFill>
                <a:latin typeface="Arial" panose="020B0604020202020204" pitchFamily="34" charset="0"/>
                <a:cs typeface="Arial" panose="020B0604020202020204" pitchFamily="34" charset="0"/>
              </a:rPr>
              <a:t>Model dynamic behaviour of the system</a:t>
            </a:r>
          </a:p>
          <a:p>
            <a:pPr>
              <a:buFont typeface="Arial" panose="020B0604020202020204" pitchFamily="34" charset="0"/>
              <a:buChar char="•"/>
            </a:pPr>
            <a:r>
              <a:rPr lang="en-AU" sz="2400" noProof="0" dirty="0">
                <a:solidFill>
                  <a:schemeClr val="tx1">
                    <a:lumMod val="95000"/>
                    <a:lumOff val="5000"/>
                  </a:schemeClr>
                </a:solidFill>
                <a:latin typeface="Arial" panose="020B0604020202020204" pitchFamily="34" charset="0"/>
                <a:cs typeface="Arial" panose="020B0604020202020204" pitchFamily="34" charset="0"/>
              </a:rPr>
              <a:t>Show interaction between classes, users, and external systems</a:t>
            </a:r>
          </a:p>
          <a:p>
            <a:pPr>
              <a:buFont typeface="Arial" panose="020B0604020202020204" pitchFamily="34" charset="0"/>
              <a:buChar char="•"/>
            </a:pPr>
            <a:r>
              <a:rPr lang="en-AU" sz="2400" noProof="0" dirty="0">
                <a:solidFill>
                  <a:schemeClr val="tx1">
                    <a:lumMod val="95000"/>
                    <a:lumOff val="5000"/>
                  </a:schemeClr>
                </a:solidFill>
                <a:latin typeface="Arial" panose="020B0604020202020204" pitchFamily="34" charset="0"/>
                <a:cs typeface="Arial" panose="020B0604020202020204" pitchFamily="34" charset="0"/>
              </a:rPr>
              <a:t>Illustrate message flow and system responsibilities</a:t>
            </a:r>
          </a:p>
          <a:p>
            <a:pPr>
              <a:buFont typeface="Arial" panose="020B0604020202020204" pitchFamily="34" charset="0"/>
              <a:buChar char="•"/>
            </a:pPr>
            <a:r>
              <a:rPr lang="en-AU" sz="2400" dirty="0">
                <a:solidFill>
                  <a:schemeClr val="tx1">
                    <a:lumMod val="95000"/>
                    <a:lumOff val="5000"/>
                  </a:schemeClr>
                </a:solidFill>
                <a:latin typeface="Arial" panose="020B0604020202020204" pitchFamily="34" charset="0"/>
                <a:cs typeface="Arial" panose="020B0604020202020204" pitchFamily="34" charset="0"/>
              </a:rPr>
              <a:t>Represent main system workflow and improve UML–code consistency</a:t>
            </a:r>
          </a:p>
          <a:p>
            <a:pPr>
              <a:buFont typeface="Arial" panose="020B0604020202020204" pitchFamily="34" charset="0"/>
              <a:buChar char="•"/>
            </a:pPr>
            <a:r>
              <a:rPr lang="en-AU" sz="2400" noProof="0" dirty="0">
                <a:solidFill>
                  <a:schemeClr val="tx1">
                    <a:lumMod val="95000"/>
                    <a:lumOff val="5000"/>
                  </a:schemeClr>
                </a:solidFill>
                <a:latin typeface="Arial" panose="020B0604020202020204" pitchFamily="34" charset="0"/>
                <a:cs typeface="Arial" panose="020B0604020202020204" pitchFamily="34" charset="0"/>
              </a:rPr>
              <a:t>Key scenarios:</a:t>
            </a:r>
          </a:p>
          <a:p>
            <a:pPr lvl="1">
              <a:buFont typeface="Arial" panose="020B0604020202020204" pitchFamily="34" charset="0"/>
              <a:buChar char="•"/>
            </a:pPr>
            <a:r>
              <a:rPr lang="en-AU" sz="2200" noProof="0" dirty="0">
                <a:solidFill>
                  <a:schemeClr val="tx1">
                    <a:lumMod val="95000"/>
                    <a:lumOff val="5000"/>
                  </a:schemeClr>
                </a:solidFill>
                <a:latin typeface="Arial" panose="020B0604020202020204" pitchFamily="34" charset="0"/>
                <a:cs typeface="Arial" panose="020B0604020202020204" pitchFamily="34" charset="0"/>
              </a:rPr>
              <a:t>Student Login</a:t>
            </a:r>
          </a:p>
          <a:p>
            <a:pPr lvl="1">
              <a:buFont typeface="Arial" panose="020B0604020202020204" pitchFamily="34" charset="0"/>
              <a:buChar char="•"/>
            </a:pPr>
            <a:r>
              <a:rPr lang="en-AU" sz="2200" noProof="0" dirty="0">
                <a:solidFill>
                  <a:schemeClr val="tx1">
                    <a:lumMod val="95000"/>
                    <a:lumOff val="5000"/>
                  </a:schemeClr>
                </a:solidFill>
                <a:latin typeface="Arial" panose="020B0604020202020204" pitchFamily="34" charset="0"/>
                <a:cs typeface="Arial" panose="020B0604020202020204" pitchFamily="34" charset="0"/>
              </a:rPr>
              <a:t>Course Selection and Enrolment</a:t>
            </a:r>
          </a:p>
          <a:p>
            <a:pPr lvl="1">
              <a:buFont typeface="Arial" panose="020B0604020202020204" pitchFamily="34" charset="0"/>
              <a:buChar char="•"/>
            </a:pPr>
            <a:r>
              <a:rPr lang="en-AU" sz="2200" dirty="0">
                <a:solidFill>
                  <a:schemeClr val="tx1">
                    <a:lumMod val="95000"/>
                    <a:lumOff val="5000"/>
                  </a:schemeClr>
                </a:solidFill>
                <a:latin typeface="Arial" panose="020B0604020202020204" pitchFamily="34" charset="0"/>
                <a:cs typeface="Arial" panose="020B0604020202020204" pitchFamily="34" charset="0"/>
              </a:rPr>
              <a:t>Enrolment Review and Approval </a:t>
            </a:r>
            <a:r>
              <a:rPr lang="en-AU" sz="2200" noProof="0" dirty="0">
                <a:solidFill>
                  <a:schemeClr val="tx1">
                    <a:lumMod val="95000"/>
                    <a:lumOff val="5000"/>
                  </a:schemeClr>
                </a:solidFill>
                <a:latin typeface="Arial" panose="020B0604020202020204" pitchFamily="34" charset="0"/>
                <a:cs typeface="Arial" panose="020B0604020202020204" pitchFamily="34" charset="0"/>
              </a:rPr>
              <a:t>(Registry Staff)</a:t>
            </a:r>
          </a:p>
        </p:txBody>
      </p:sp>
    </p:spTree>
    <p:extLst>
      <p:ext uri="{BB962C8B-B14F-4D97-AF65-F5344CB8AC3E}">
        <p14:creationId xmlns:p14="http://schemas.microsoft.com/office/powerpoint/2010/main" val="20906691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717C1B-1428-4511-DA9E-DC8C871502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E611E4-A2D5-3F0F-19D5-8E29CF7638E4}"/>
              </a:ext>
            </a:extLst>
          </p:cNvPr>
          <p:cNvSpPr>
            <a:spLocks noGrp="1"/>
          </p:cNvSpPr>
          <p:nvPr>
            <p:ph type="title"/>
          </p:nvPr>
        </p:nvSpPr>
        <p:spPr>
          <a:xfrm>
            <a:off x="1640156" y="163862"/>
            <a:ext cx="9864456" cy="1280890"/>
          </a:xfrm>
        </p:spPr>
        <p:txBody>
          <a:bodyPr>
            <a:normAutofit/>
          </a:bodyPr>
          <a:lstStyle/>
          <a:p>
            <a:r>
              <a:rPr lang="en-NZ" sz="4000" b="1" dirty="0">
                <a:solidFill>
                  <a:srgbClr val="FF0000"/>
                </a:solidFill>
                <a:latin typeface="Arial" panose="020B0604020202020204" pitchFamily="34" charset="0"/>
                <a:cs typeface="Arial" panose="020B0604020202020204" pitchFamily="34" charset="0"/>
              </a:rPr>
              <a:t>Sequence Diagram - Student Login</a:t>
            </a:r>
            <a:endParaRPr lang="en-NZ" sz="4000" b="1" noProof="0" dirty="0">
              <a:solidFill>
                <a:srgbClr val="FF0000"/>
              </a:solidFill>
              <a:latin typeface="Arial" panose="020B0604020202020204" pitchFamily="34" charset="0"/>
              <a:cs typeface="Arial" panose="020B0604020202020204" pitchFamily="34" charset="0"/>
            </a:endParaRPr>
          </a:p>
        </p:txBody>
      </p:sp>
      <p:sp>
        <p:nvSpPr>
          <p:cNvPr id="5" name="Content Placeholder 4">
            <a:extLst>
              <a:ext uri="{FF2B5EF4-FFF2-40B4-BE49-F238E27FC236}">
                <a16:creationId xmlns:a16="http://schemas.microsoft.com/office/drawing/2014/main" id="{ABFA0D0D-A2F0-14E5-BB28-4991D9DF2D15}"/>
              </a:ext>
            </a:extLst>
          </p:cNvPr>
          <p:cNvSpPr>
            <a:spLocks noGrp="1"/>
          </p:cNvSpPr>
          <p:nvPr>
            <p:ph idx="1"/>
          </p:nvPr>
        </p:nvSpPr>
        <p:spPr/>
        <p:txBody>
          <a:bodyPr/>
          <a:lstStyle/>
          <a:p>
            <a:endParaRPr lang="en-US"/>
          </a:p>
        </p:txBody>
      </p:sp>
      <p:pic>
        <p:nvPicPr>
          <p:cNvPr id="6" name="Picture 5">
            <a:extLst>
              <a:ext uri="{FF2B5EF4-FFF2-40B4-BE49-F238E27FC236}">
                <a16:creationId xmlns:a16="http://schemas.microsoft.com/office/drawing/2014/main" id="{C49FFC53-4865-70D8-DBB4-9043AE27165B}"/>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04759" y="934138"/>
            <a:ext cx="11382481" cy="5760000"/>
          </a:xfrm>
          <a:prstGeom prst="rect">
            <a:avLst/>
          </a:prstGeom>
          <a:noFill/>
          <a:ln>
            <a:solidFill>
              <a:schemeClr val="tx1"/>
            </a:solidFill>
          </a:ln>
        </p:spPr>
      </p:pic>
    </p:spTree>
    <p:extLst>
      <p:ext uri="{BB962C8B-B14F-4D97-AF65-F5344CB8AC3E}">
        <p14:creationId xmlns:p14="http://schemas.microsoft.com/office/powerpoint/2010/main" val="19818461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8D8376-B550-67E5-C165-91954EDB29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48A269-10DC-041F-02CE-1A002694A78A}"/>
              </a:ext>
            </a:extLst>
          </p:cNvPr>
          <p:cNvSpPr>
            <a:spLocks noGrp="1"/>
          </p:cNvSpPr>
          <p:nvPr>
            <p:ph type="title"/>
          </p:nvPr>
        </p:nvSpPr>
        <p:spPr>
          <a:xfrm>
            <a:off x="661416" y="151222"/>
            <a:ext cx="11530584" cy="1280890"/>
          </a:xfrm>
        </p:spPr>
        <p:txBody>
          <a:bodyPr>
            <a:normAutofit fontScale="90000"/>
          </a:bodyPr>
          <a:lstStyle/>
          <a:p>
            <a:r>
              <a:rPr lang="en-NZ" sz="4000" b="1" dirty="0">
                <a:solidFill>
                  <a:srgbClr val="FF0000"/>
                </a:solidFill>
                <a:latin typeface="Arial" panose="020B0604020202020204" pitchFamily="34" charset="0"/>
                <a:cs typeface="Arial" panose="020B0604020202020204" pitchFamily="34" charset="0"/>
              </a:rPr>
              <a:t>Sequence Diagram - Course Selection &amp; Enrolment</a:t>
            </a:r>
            <a:endParaRPr lang="en-NZ" sz="4000" b="1" noProof="0" dirty="0">
              <a:solidFill>
                <a:srgbClr val="FF0000"/>
              </a:solidFill>
              <a:latin typeface="Arial" panose="020B0604020202020204" pitchFamily="34" charset="0"/>
              <a:cs typeface="Arial" panose="020B0604020202020204" pitchFamily="34" charset="0"/>
            </a:endParaRPr>
          </a:p>
        </p:txBody>
      </p:sp>
      <p:sp>
        <p:nvSpPr>
          <p:cNvPr id="5" name="Content Placeholder 4">
            <a:extLst>
              <a:ext uri="{FF2B5EF4-FFF2-40B4-BE49-F238E27FC236}">
                <a16:creationId xmlns:a16="http://schemas.microsoft.com/office/drawing/2014/main" id="{044E4BCB-AB7B-8ADE-AAD3-C08C56E234FB}"/>
              </a:ext>
            </a:extLst>
          </p:cNvPr>
          <p:cNvSpPr>
            <a:spLocks noGrp="1"/>
          </p:cNvSpPr>
          <p:nvPr>
            <p:ph idx="1"/>
          </p:nvPr>
        </p:nvSpPr>
        <p:spPr/>
        <p:txBody>
          <a:bodyPr/>
          <a:lstStyle/>
          <a:p>
            <a:endParaRPr lang="en-US"/>
          </a:p>
        </p:txBody>
      </p:sp>
      <p:pic>
        <p:nvPicPr>
          <p:cNvPr id="6" name="Picture 5">
            <a:extLst>
              <a:ext uri="{FF2B5EF4-FFF2-40B4-BE49-F238E27FC236}">
                <a16:creationId xmlns:a16="http://schemas.microsoft.com/office/drawing/2014/main" id="{7458D73D-B78C-6B92-CAB4-AEBB7210FD95}"/>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980835" y="946778"/>
            <a:ext cx="6230329" cy="5760000"/>
          </a:xfrm>
          <a:prstGeom prst="rect">
            <a:avLst/>
          </a:prstGeom>
          <a:noFill/>
          <a:ln>
            <a:solidFill>
              <a:schemeClr val="tx1"/>
            </a:solidFill>
          </a:ln>
        </p:spPr>
      </p:pic>
    </p:spTree>
    <p:extLst>
      <p:ext uri="{BB962C8B-B14F-4D97-AF65-F5344CB8AC3E}">
        <p14:creationId xmlns:p14="http://schemas.microsoft.com/office/powerpoint/2010/main" val="29656633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3949A5-EB20-5778-58C1-47BBAB3F40B4}"/>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7AE5F796-F8F3-2E64-68E8-22D2123D62E1}"/>
              </a:ext>
            </a:extLst>
          </p:cNvPr>
          <p:cNvSpPr>
            <a:spLocks noGrp="1"/>
          </p:cNvSpPr>
          <p:nvPr>
            <p:ph idx="1"/>
          </p:nvPr>
        </p:nvSpPr>
        <p:spPr/>
        <p:txBody>
          <a:bodyPr/>
          <a:lstStyle/>
          <a:p>
            <a:endParaRPr lang="en-US"/>
          </a:p>
        </p:txBody>
      </p:sp>
      <p:pic>
        <p:nvPicPr>
          <p:cNvPr id="6" name="Picture 5">
            <a:extLst>
              <a:ext uri="{FF2B5EF4-FFF2-40B4-BE49-F238E27FC236}">
                <a16:creationId xmlns:a16="http://schemas.microsoft.com/office/drawing/2014/main" id="{7A60BFDF-0B57-B9E9-865F-7A6951965DB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26192" y="946778"/>
            <a:ext cx="11339615" cy="5760000"/>
          </a:xfrm>
          <a:prstGeom prst="rect">
            <a:avLst/>
          </a:prstGeom>
          <a:noFill/>
          <a:ln>
            <a:solidFill>
              <a:schemeClr val="tx1"/>
            </a:solidFill>
          </a:ln>
        </p:spPr>
      </p:pic>
      <p:sp>
        <p:nvSpPr>
          <p:cNvPr id="2" name="Title 1">
            <a:extLst>
              <a:ext uri="{FF2B5EF4-FFF2-40B4-BE49-F238E27FC236}">
                <a16:creationId xmlns:a16="http://schemas.microsoft.com/office/drawing/2014/main" id="{B6BD5DDC-E6B4-CDB8-2E51-314DED1F95BE}"/>
              </a:ext>
            </a:extLst>
          </p:cNvPr>
          <p:cNvSpPr>
            <a:spLocks noGrp="1"/>
          </p:cNvSpPr>
          <p:nvPr>
            <p:ph type="title"/>
          </p:nvPr>
        </p:nvSpPr>
        <p:spPr>
          <a:xfrm>
            <a:off x="426192" y="163862"/>
            <a:ext cx="12201672" cy="1280890"/>
          </a:xfrm>
        </p:spPr>
        <p:txBody>
          <a:bodyPr>
            <a:normAutofit fontScale="90000"/>
          </a:bodyPr>
          <a:lstStyle/>
          <a:p>
            <a:r>
              <a:rPr lang="en-NZ" sz="4000" b="1" dirty="0">
                <a:solidFill>
                  <a:srgbClr val="FF0000"/>
                </a:solidFill>
                <a:latin typeface="Arial" panose="020B0604020202020204" pitchFamily="34" charset="0"/>
                <a:cs typeface="Arial" panose="020B0604020202020204" pitchFamily="34" charset="0"/>
              </a:rPr>
              <a:t>Sequence Diagram - Enrolment Review &amp; Approval</a:t>
            </a:r>
            <a:endParaRPr lang="en-NZ" sz="4000" b="1" noProof="0" dirty="0">
              <a:solidFill>
                <a:srgbClr val="FF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617996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C42DD8-34B1-CFA1-D027-C838DBAA8C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3852EF-AA12-961A-5852-62C87B771A35}"/>
              </a:ext>
            </a:extLst>
          </p:cNvPr>
          <p:cNvSpPr>
            <a:spLocks noGrp="1"/>
          </p:cNvSpPr>
          <p:nvPr>
            <p:ph type="title"/>
          </p:nvPr>
        </p:nvSpPr>
        <p:spPr>
          <a:xfrm>
            <a:off x="1640156" y="163862"/>
            <a:ext cx="9864456" cy="1280890"/>
          </a:xfrm>
        </p:spPr>
        <p:txBody>
          <a:bodyPr>
            <a:normAutofit/>
          </a:bodyPr>
          <a:lstStyle/>
          <a:p>
            <a:r>
              <a:rPr lang="en-NZ" sz="4000" b="1" dirty="0">
                <a:solidFill>
                  <a:srgbClr val="FF0000"/>
                </a:solidFill>
                <a:latin typeface="Arial" panose="020B0604020202020204" pitchFamily="34" charset="0"/>
                <a:cs typeface="Arial" panose="020B0604020202020204" pitchFamily="34" charset="0"/>
              </a:rPr>
              <a:t>Activity Diagrams</a:t>
            </a:r>
            <a:endParaRPr lang="en-NZ" sz="4000" b="1" noProof="0" dirty="0">
              <a:solidFill>
                <a:srgbClr val="FF0000"/>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9A2EFD26-11C1-DBD4-678B-50F42631EABD}"/>
              </a:ext>
            </a:extLst>
          </p:cNvPr>
          <p:cNvSpPr>
            <a:spLocks noGrp="1"/>
          </p:cNvSpPr>
          <p:nvPr>
            <p:ph idx="1"/>
          </p:nvPr>
        </p:nvSpPr>
        <p:spPr>
          <a:xfrm>
            <a:off x="1640156" y="1207008"/>
            <a:ext cx="9864456" cy="5559552"/>
          </a:xfrm>
        </p:spPr>
        <p:txBody>
          <a:bodyPr>
            <a:normAutofit/>
          </a:bodyPr>
          <a:lstStyle/>
          <a:p>
            <a:pPr>
              <a:buFont typeface="Arial" panose="020B0604020202020204" pitchFamily="34" charset="0"/>
              <a:buChar char="•"/>
            </a:pPr>
            <a:r>
              <a:rPr lang="en-US" sz="2200" dirty="0">
                <a:solidFill>
                  <a:schemeClr val="tx1"/>
                </a:solidFill>
                <a:latin typeface="Arial" panose="020B0604020202020204" pitchFamily="34" charset="0"/>
                <a:cs typeface="Arial" panose="020B0604020202020204" pitchFamily="34" charset="0"/>
              </a:rPr>
              <a:t>Model system workflow and process flow</a:t>
            </a:r>
          </a:p>
          <a:p>
            <a:pPr>
              <a:buFont typeface="Arial" panose="020B0604020202020204" pitchFamily="34" charset="0"/>
              <a:buChar char="•"/>
            </a:pPr>
            <a:r>
              <a:rPr lang="en-US" sz="2200" dirty="0">
                <a:solidFill>
                  <a:schemeClr val="tx1"/>
                </a:solidFill>
                <a:latin typeface="Arial" panose="020B0604020202020204" pitchFamily="34" charset="0"/>
                <a:cs typeface="Arial" panose="020B0604020202020204" pitchFamily="34" charset="0"/>
              </a:rPr>
              <a:t>Focus on decisions, actions, and responsibilities</a:t>
            </a:r>
          </a:p>
          <a:p>
            <a:pPr>
              <a:buFont typeface="Arial" panose="020B0604020202020204" pitchFamily="34" charset="0"/>
              <a:buChar char="•"/>
            </a:pPr>
            <a:r>
              <a:rPr lang="en-US" sz="2200" dirty="0">
                <a:solidFill>
                  <a:schemeClr val="tx1"/>
                </a:solidFill>
                <a:latin typeface="Arial" panose="020B0604020202020204" pitchFamily="34" charset="0"/>
                <a:cs typeface="Arial" panose="020B0604020202020204" pitchFamily="34" charset="0"/>
              </a:rPr>
              <a:t>Use </a:t>
            </a:r>
            <a:r>
              <a:rPr lang="en-US" sz="2200" dirty="0" err="1">
                <a:solidFill>
                  <a:schemeClr val="tx1"/>
                </a:solidFill>
                <a:latin typeface="Arial" panose="020B0604020202020204" pitchFamily="34" charset="0"/>
                <a:cs typeface="Arial" panose="020B0604020202020204" pitchFamily="34" charset="0"/>
              </a:rPr>
              <a:t>swimlanes</a:t>
            </a:r>
            <a:r>
              <a:rPr lang="en-US" sz="2200" dirty="0">
                <a:solidFill>
                  <a:schemeClr val="tx1"/>
                </a:solidFill>
                <a:latin typeface="Arial" panose="020B0604020202020204" pitchFamily="34" charset="0"/>
                <a:cs typeface="Arial" panose="020B0604020202020204" pitchFamily="34" charset="0"/>
              </a:rPr>
              <a:t> to separate users, system, and external services</a:t>
            </a:r>
          </a:p>
          <a:p>
            <a:pPr>
              <a:buFont typeface="Arial" panose="020B0604020202020204" pitchFamily="34" charset="0"/>
              <a:buChar char="•"/>
            </a:pPr>
            <a:r>
              <a:rPr lang="en-US" sz="2200" dirty="0">
                <a:solidFill>
                  <a:schemeClr val="tx1"/>
                </a:solidFill>
                <a:latin typeface="Arial" panose="020B0604020202020204" pitchFamily="34" charset="0"/>
                <a:cs typeface="Arial" panose="020B0604020202020204" pitchFamily="34" charset="0"/>
              </a:rPr>
              <a:t>Improve understanding of system </a:t>
            </a:r>
            <a:r>
              <a:rPr lang="en-US" sz="2200" dirty="0" err="1">
                <a:solidFill>
                  <a:schemeClr val="tx1"/>
                </a:solidFill>
                <a:latin typeface="Arial" panose="020B0604020202020204" pitchFamily="34" charset="0"/>
                <a:cs typeface="Arial" panose="020B0604020202020204" pitchFamily="34" charset="0"/>
              </a:rPr>
              <a:t>behaviour</a:t>
            </a:r>
            <a:r>
              <a:rPr lang="en-US" sz="2200" dirty="0">
                <a:solidFill>
                  <a:schemeClr val="tx1"/>
                </a:solidFill>
                <a:latin typeface="Arial" panose="020B0604020202020204" pitchFamily="34" charset="0"/>
                <a:cs typeface="Arial" panose="020B0604020202020204" pitchFamily="34" charset="0"/>
              </a:rPr>
              <a:t> from a process perspective</a:t>
            </a:r>
            <a:endParaRPr lang="en-NZ" sz="2000" dirty="0">
              <a:solidFill>
                <a:schemeClr val="tx1"/>
              </a:solidFill>
              <a:latin typeface="Arial" panose="020B0604020202020204" pitchFamily="34" charset="0"/>
              <a:cs typeface="Arial" panose="020B0604020202020204" pitchFamily="34" charset="0"/>
            </a:endParaRPr>
          </a:p>
          <a:p>
            <a:pPr>
              <a:buFont typeface="Arial" panose="020B0604020202020204" pitchFamily="34" charset="0"/>
              <a:buChar char="•"/>
            </a:pPr>
            <a:r>
              <a:rPr lang="en-AU" sz="2000" dirty="0">
                <a:solidFill>
                  <a:schemeClr val="tx1">
                    <a:lumMod val="95000"/>
                    <a:lumOff val="5000"/>
                  </a:schemeClr>
                </a:solidFill>
                <a:latin typeface="Arial" panose="020B0604020202020204" pitchFamily="34" charset="0"/>
                <a:cs typeface="Arial" panose="020B0604020202020204" pitchFamily="34" charset="0"/>
              </a:rPr>
              <a:t>Key scenarios</a:t>
            </a:r>
            <a:r>
              <a:rPr lang="en-US" sz="2200" dirty="0">
                <a:solidFill>
                  <a:schemeClr val="tx1"/>
                </a:solidFill>
                <a:latin typeface="Arial" panose="020B0604020202020204" pitchFamily="34" charset="0"/>
                <a:cs typeface="Arial" panose="020B0604020202020204" pitchFamily="34" charset="0"/>
              </a:rPr>
              <a:t>:</a:t>
            </a:r>
          </a:p>
          <a:p>
            <a:pPr lvl="1">
              <a:buFont typeface="Arial" panose="020B0604020202020204" pitchFamily="34" charset="0"/>
              <a:buChar char="•"/>
            </a:pPr>
            <a:r>
              <a:rPr lang="en-US" sz="2000" dirty="0">
                <a:solidFill>
                  <a:schemeClr val="tx1"/>
                </a:solidFill>
                <a:latin typeface="Arial" panose="020B0604020202020204" pitchFamily="34" charset="0"/>
                <a:cs typeface="Arial" panose="020B0604020202020204" pitchFamily="34" charset="0"/>
              </a:rPr>
              <a:t>Student course enrolment workflow</a:t>
            </a:r>
          </a:p>
          <a:p>
            <a:pPr lvl="1">
              <a:buFont typeface="Arial" panose="020B0604020202020204" pitchFamily="34" charset="0"/>
              <a:buChar char="•"/>
            </a:pPr>
            <a:r>
              <a:rPr lang="en-US" sz="2000" dirty="0">
                <a:solidFill>
                  <a:schemeClr val="tx1"/>
                </a:solidFill>
                <a:latin typeface="Arial" panose="020B0604020202020204" pitchFamily="34" charset="0"/>
                <a:cs typeface="Arial" panose="020B0604020202020204" pitchFamily="34" charset="0"/>
              </a:rPr>
              <a:t>Registry staff enrolment review and approval</a:t>
            </a:r>
          </a:p>
        </p:txBody>
      </p:sp>
    </p:spTree>
    <p:extLst>
      <p:ext uri="{BB962C8B-B14F-4D97-AF65-F5344CB8AC3E}">
        <p14:creationId xmlns:p14="http://schemas.microsoft.com/office/powerpoint/2010/main" val="5966848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C066F9-7E0B-8261-8E20-46CFC74711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E56D13-325B-977C-4EA9-74D00A56D226}"/>
              </a:ext>
            </a:extLst>
          </p:cNvPr>
          <p:cNvSpPr>
            <a:spLocks noGrp="1"/>
          </p:cNvSpPr>
          <p:nvPr>
            <p:ph type="title"/>
          </p:nvPr>
        </p:nvSpPr>
        <p:spPr>
          <a:xfrm>
            <a:off x="1640156" y="163862"/>
            <a:ext cx="9864456" cy="1280890"/>
          </a:xfrm>
        </p:spPr>
        <p:txBody>
          <a:bodyPr>
            <a:normAutofit/>
          </a:bodyPr>
          <a:lstStyle/>
          <a:p>
            <a:r>
              <a:rPr lang="en-US" sz="4000" b="1" dirty="0">
                <a:solidFill>
                  <a:srgbClr val="FF0000"/>
                </a:solidFill>
                <a:latin typeface="Arial" panose="020B0604020202020204" pitchFamily="34" charset="0"/>
                <a:cs typeface="Arial" panose="020B0604020202020204" pitchFamily="34" charset="0"/>
              </a:rPr>
              <a:t>Activity Diagram -Student Enrolment</a:t>
            </a:r>
            <a:endParaRPr lang="en-NZ" sz="4000" b="1" noProof="0" dirty="0">
              <a:solidFill>
                <a:srgbClr val="FF0000"/>
              </a:solidFill>
              <a:latin typeface="Arial" panose="020B0604020202020204" pitchFamily="34" charset="0"/>
              <a:cs typeface="Arial" panose="020B0604020202020204" pitchFamily="34" charset="0"/>
            </a:endParaRPr>
          </a:p>
        </p:txBody>
      </p:sp>
      <p:sp>
        <p:nvSpPr>
          <p:cNvPr id="5" name="Content Placeholder 4">
            <a:extLst>
              <a:ext uri="{FF2B5EF4-FFF2-40B4-BE49-F238E27FC236}">
                <a16:creationId xmlns:a16="http://schemas.microsoft.com/office/drawing/2014/main" id="{0FAE559A-EC6C-8543-6650-333C2CE8CCC8}"/>
              </a:ext>
            </a:extLst>
          </p:cNvPr>
          <p:cNvSpPr>
            <a:spLocks noGrp="1"/>
          </p:cNvSpPr>
          <p:nvPr>
            <p:ph idx="1"/>
          </p:nvPr>
        </p:nvSpPr>
        <p:spPr/>
        <p:txBody>
          <a:bodyPr/>
          <a:lstStyle/>
          <a:p>
            <a:endParaRPr lang="en-US"/>
          </a:p>
        </p:txBody>
      </p:sp>
      <p:pic>
        <p:nvPicPr>
          <p:cNvPr id="6" name="Picture 5">
            <a:extLst>
              <a:ext uri="{FF2B5EF4-FFF2-40B4-BE49-F238E27FC236}">
                <a16:creationId xmlns:a16="http://schemas.microsoft.com/office/drawing/2014/main" id="{0D7B0F08-F0A6-D50C-0419-047981FBDE3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608773" y="934138"/>
            <a:ext cx="6974453" cy="5760000"/>
          </a:xfrm>
          <a:prstGeom prst="rect">
            <a:avLst/>
          </a:prstGeom>
          <a:noFill/>
          <a:ln>
            <a:noFill/>
          </a:ln>
        </p:spPr>
      </p:pic>
    </p:spTree>
    <p:extLst>
      <p:ext uri="{BB962C8B-B14F-4D97-AF65-F5344CB8AC3E}">
        <p14:creationId xmlns:p14="http://schemas.microsoft.com/office/powerpoint/2010/main" val="32243839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BBEC72-28A9-3DA8-16F9-6EEFE9D265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BFF420-FF9D-5222-960C-B4208796106F}"/>
              </a:ext>
            </a:extLst>
          </p:cNvPr>
          <p:cNvSpPr>
            <a:spLocks noGrp="1"/>
          </p:cNvSpPr>
          <p:nvPr>
            <p:ph type="title"/>
          </p:nvPr>
        </p:nvSpPr>
        <p:spPr>
          <a:xfrm>
            <a:off x="1640156" y="163862"/>
            <a:ext cx="9864456" cy="1280890"/>
          </a:xfrm>
        </p:spPr>
        <p:txBody>
          <a:bodyPr>
            <a:normAutofit/>
          </a:bodyPr>
          <a:lstStyle/>
          <a:p>
            <a:r>
              <a:rPr lang="en-NZ" sz="4000" b="1" dirty="0">
                <a:solidFill>
                  <a:srgbClr val="FF0000"/>
                </a:solidFill>
                <a:latin typeface="Arial" panose="020B0604020202020204" pitchFamily="34" charset="0"/>
                <a:cs typeface="Arial" panose="020B0604020202020204" pitchFamily="34" charset="0"/>
              </a:rPr>
              <a:t>Activity Diagram - Registry Approval</a:t>
            </a:r>
            <a:endParaRPr lang="en-NZ" sz="4000" b="1" noProof="0" dirty="0">
              <a:solidFill>
                <a:srgbClr val="FF0000"/>
              </a:solidFill>
              <a:latin typeface="Arial" panose="020B0604020202020204" pitchFamily="34" charset="0"/>
              <a:cs typeface="Arial" panose="020B0604020202020204" pitchFamily="34" charset="0"/>
            </a:endParaRPr>
          </a:p>
        </p:txBody>
      </p:sp>
      <p:sp>
        <p:nvSpPr>
          <p:cNvPr id="5" name="Content Placeholder 4">
            <a:extLst>
              <a:ext uri="{FF2B5EF4-FFF2-40B4-BE49-F238E27FC236}">
                <a16:creationId xmlns:a16="http://schemas.microsoft.com/office/drawing/2014/main" id="{20D2B479-A733-440E-CEAC-E6F3C090A94F}"/>
              </a:ext>
            </a:extLst>
          </p:cNvPr>
          <p:cNvSpPr>
            <a:spLocks noGrp="1"/>
          </p:cNvSpPr>
          <p:nvPr>
            <p:ph idx="1"/>
          </p:nvPr>
        </p:nvSpPr>
        <p:spPr/>
        <p:txBody>
          <a:bodyPr/>
          <a:lstStyle/>
          <a:p>
            <a:endParaRPr lang="en-US"/>
          </a:p>
        </p:txBody>
      </p:sp>
      <p:pic>
        <p:nvPicPr>
          <p:cNvPr id="6" name="Picture 5">
            <a:extLst>
              <a:ext uri="{FF2B5EF4-FFF2-40B4-BE49-F238E27FC236}">
                <a16:creationId xmlns:a16="http://schemas.microsoft.com/office/drawing/2014/main" id="{8015D878-D4D2-2082-4B6A-4B63C893868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855740" y="934138"/>
            <a:ext cx="6480520" cy="5760000"/>
          </a:xfrm>
          <a:prstGeom prst="rect">
            <a:avLst/>
          </a:prstGeom>
          <a:noFill/>
          <a:ln>
            <a:noFill/>
          </a:ln>
        </p:spPr>
      </p:pic>
    </p:spTree>
    <p:extLst>
      <p:ext uri="{BB962C8B-B14F-4D97-AF65-F5344CB8AC3E}">
        <p14:creationId xmlns:p14="http://schemas.microsoft.com/office/powerpoint/2010/main" val="20099959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5A22A9-87EF-FE7F-05B7-6005E8B2C9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83B0A3-DC55-85A7-E6C5-B0A7D8EFD738}"/>
              </a:ext>
            </a:extLst>
          </p:cNvPr>
          <p:cNvSpPr>
            <a:spLocks noGrp="1"/>
          </p:cNvSpPr>
          <p:nvPr>
            <p:ph type="title"/>
          </p:nvPr>
        </p:nvSpPr>
        <p:spPr>
          <a:xfrm>
            <a:off x="1640156" y="163862"/>
            <a:ext cx="9864456" cy="1280890"/>
          </a:xfrm>
        </p:spPr>
        <p:txBody>
          <a:bodyPr>
            <a:normAutofit/>
          </a:bodyPr>
          <a:lstStyle/>
          <a:p>
            <a:r>
              <a:rPr lang="en-NZ" sz="4000" b="1" dirty="0">
                <a:solidFill>
                  <a:srgbClr val="FF0000"/>
                </a:solidFill>
                <a:latin typeface="Arial" panose="020B0604020202020204" pitchFamily="34" charset="0"/>
                <a:cs typeface="Arial" panose="020B0604020202020204" pitchFamily="34" charset="0"/>
              </a:rPr>
              <a:t>Design Patterns</a:t>
            </a:r>
            <a:endParaRPr lang="en-NZ" sz="4000" b="1" noProof="0" dirty="0">
              <a:solidFill>
                <a:srgbClr val="FF0000"/>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C40D6D3D-71DF-6A36-6FF6-23E9BD1B6166}"/>
              </a:ext>
            </a:extLst>
          </p:cNvPr>
          <p:cNvSpPr>
            <a:spLocks noGrp="1"/>
          </p:cNvSpPr>
          <p:nvPr>
            <p:ph idx="1"/>
          </p:nvPr>
        </p:nvSpPr>
        <p:spPr>
          <a:xfrm>
            <a:off x="1640156" y="1207008"/>
            <a:ext cx="9864456" cy="5559552"/>
          </a:xfrm>
        </p:spPr>
        <p:txBody>
          <a:bodyPr>
            <a:normAutofit fontScale="92500" lnSpcReduction="10000"/>
          </a:bodyPr>
          <a:lstStyle/>
          <a:p>
            <a:pPr>
              <a:buFont typeface="Arial" panose="020B0604020202020204" pitchFamily="34" charset="0"/>
              <a:buChar char="•"/>
            </a:pPr>
            <a:r>
              <a:rPr lang="en-US" sz="2200" dirty="0">
                <a:solidFill>
                  <a:schemeClr val="tx1"/>
                </a:solidFill>
                <a:latin typeface="Arial" panose="020B0604020202020204" pitchFamily="34" charset="0"/>
                <a:cs typeface="Arial" panose="020B0604020202020204" pitchFamily="34" charset="0"/>
              </a:rPr>
              <a:t>Applied </a:t>
            </a:r>
            <a:r>
              <a:rPr lang="en-US" sz="2200" dirty="0" err="1">
                <a:solidFill>
                  <a:schemeClr val="tx1"/>
                </a:solidFill>
                <a:latin typeface="Arial" panose="020B0604020202020204" pitchFamily="34" charset="0"/>
                <a:cs typeface="Arial" panose="020B0604020202020204" pitchFamily="34" charset="0"/>
              </a:rPr>
              <a:t>GoF</a:t>
            </a:r>
            <a:r>
              <a:rPr lang="en-US" sz="2200" dirty="0">
                <a:solidFill>
                  <a:schemeClr val="tx1"/>
                </a:solidFill>
                <a:latin typeface="Arial" panose="020B0604020202020204" pitchFamily="34" charset="0"/>
                <a:cs typeface="Arial" panose="020B0604020202020204" pitchFamily="34" charset="0"/>
              </a:rPr>
              <a:t> design patterns to improve system design</a:t>
            </a:r>
          </a:p>
          <a:p>
            <a:pPr>
              <a:buFont typeface="Arial" panose="020B0604020202020204" pitchFamily="34" charset="0"/>
              <a:buChar char="•"/>
            </a:pPr>
            <a:r>
              <a:rPr lang="en-US" sz="2200" dirty="0">
                <a:solidFill>
                  <a:schemeClr val="tx1"/>
                </a:solidFill>
                <a:latin typeface="Arial" panose="020B0604020202020204" pitchFamily="34" charset="0"/>
                <a:cs typeface="Arial" panose="020B0604020202020204" pitchFamily="34" charset="0"/>
              </a:rPr>
              <a:t>Focus on modularity, flexibility, and maintainability</a:t>
            </a:r>
          </a:p>
          <a:p>
            <a:pPr>
              <a:buFont typeface="Arial" panose="020B0604020202020204" pitchFamily="34" charset="0"/>
              <a:buChar char="•"/>
            </a:pPr>
            <a:r>
              <a:rPr lang="en-US" sz="2200" dirty="0">
                <a:solidFill>
                  <a:schemeClr val="tx1"/>
                </a:solidFill>
                <a:latin typeface="Arial" panose="020B0604020202020204" pitchFamily="34" charset="0"/>
                <a:cs typeface="Arial" panose="020B0604020202020204" pitchFamily="34" charset="0"/>
              </a:rPr>
              <a:t>Key Advantages:</a:t>
            </a:r>
          </a:p>
          <a:p>
            <a:pPr lvl="1">
              <a:buFont typeface="Arial" panose="020B0604020202020204" pitchFamily="34" charset="0"/>
              <a:buChar char="•"/>
            </a:pPr>
            <a:r>
              <a:rPr lang="en-US" sz="2000" dirty="0">
                <a:solidFill>
                  <a:schemeClr val="tx1"/>
                </a:solidFill>
                <a:latin typeface="Arial" panose="020B0604020202020204" pitchFamily="34" charset="0"/>
                <a:cs typeface="Arial" panose="020B0604020202020204" pitchFamily="34" charset="0"/>
              </a:rPr>
              <a:t>Reduced Coupling</a:t>
            </a:r>
          </a:p>
          <a:p>
            <a:pPr lvl="1">
              <a:buFont typeface="Arial" panose="020B0604020202020204" pitchFamily="34" charset="0"/>
              <a:buChar char="•"/>
            </a:pPr>
            <a:r>
              <a:rPr lang="en-US" sz="2000" dirty="0">
                <a:solidFill>
                  <a:schemeClr val="tx1"/>
                </a:solidFill>
                <a:latin typeface="Arial" panose="020B0604020202020204" pitchFamily="34" charset="0"/>
                <a:cs typeface="Arial" panose="020B0604020202020204" pitchFamily="34" charset="0"/>
              </a:rPr>
              <a:t>Increased Cohesion</a:t>
            </a:r>
          </a:p>
          <a:p>
            <a:pPr lvl="1">
              <a:buFont typeface="Arial" panose="020B0604020202020204" pitchFamily="34" charset="0"/>
              <a:buChar char="•"/>
            </a:pPr>
            <a:r>
              <a:rPr lang="en-US" sz="2000" dirty="0">
                <a:solidFill>
                  <a:schemeClr val="tx1"/>
                </a:solidFill>
                <a:latin typeface="Arial" panose="020B0604020202020204" pitchFamily="34" charset="0"/>
                <a:cs typeface="Arial" panose="020B0604020202020204" pitchFamily="34" charset="0"/>
              </a:rPr>
              <a:t>Enhanced Extensibility</a:t>
            </a:r>
          </a:p>
          <a:p>
            <a:pPr>
              <a:buFont typeface="Arial" panose="020B0604020202020204" pitchFamily="34" charset="0"/>
              <a:buChar char="•"/>
            </a:pPr>
            <a:r>
              <a:rPr lang="en-US" sz="2200" dirty="0">
                <a:solidFill>
                  <a:schemeClr val="tx1"/>
                </a:solidFill>
                <a:latin typeface="Arial" panose="020B0604020202020204" pitchFamily="34" charset="0"/>
                <a:cs typeface="Arial" panose="020B0604020202020204" pitchFamily="34" charset="0"/>
              </a:rPr>
              <a:t>Three patterns used:</a:t>
            </a:r>
          </a:p>
          <a:p>
            <a:pPr lvl="1">
              <a:buFont typeface="Arial" panose="020B0604020202020204" pitchFamily="34" charset="0"/>
              <a:buChar char="•"/>
            </a:pPr>
            <a:r>
              <a:rPr lang="en-US" sz="2000" dirty="0">
                <a:solidFill>
                  <a:schemeClr val="tx1"/>
                </a:solidFill>
                <a:latin typeface="Arial" panose="020B0604020202020204" pitchFamily="34" charset="0"/>
                <a:cs typeface="Arial" panose="020B0604020202020204" pitchFamily="34" charset="0"/>
              </a:rPr>
              <a:t>Factory Method</a:t>
            </a:r>
          </a:p>
          <a:p>
            <a:pPr lvl="1">
              <a:buFont typeface="Arial" panose="020B0604020202020204" pitchFamily="34" charset="0"/>
              <a:buChar char="•"/>
            </a:pPr>
            <a:r>
              <a:rPr lang="en-US" sz="2000" dirty="0">
                <a:solidFill>
                  <a:schemeClr val="tx1"/>
                </a:solidFill>
                <a:latin typeface="Arial" panose="020B0604020202020204" pitchFamily="34" charset="0"/>
                <a:cs typeface="Arial" panose="020B0604020202020204" pitchFamily="34" charset="0"/>
              </a:rPr>
              <a:t>Singleton</a:t>
            </a:r>
          </a:p>
          <a:p>
            <a:pPr lvl="1">
              <a:buFont typeface="Arial" panose="020B0604020202020204" pitchFamily="34" charset="0"/>
              <a:buChar char="•"/>
            </a:pPr>
            <a:r>
              <a:rPr lang="en-US" sz="2000" dirty="0">
                <a:solidFill>
                  <a:schemeClr val="tx1"/>
                </a:solidFill>
                <a:latin typeface="Arial" panose="020B0604020202020204" pitchFamily="34" charset="0"/>
                <a:cs typeface="Arial" panose="020B0604020202020204" pitchFamily="34" charset="0"/>
              </a:rPr>
              <a:t>Adapter</a:t>
            </a:r>
          </a:p>
          <a:p>
            <a:pPr>
              <a:buFont typeface="Arial" panose="020B0604020202020204" pitchFamily="34" charset="0"/>
              <a:buChar char="•"/>
            </a:pPr>
            <a:r>
              <a:rPr lang="en-US" sz="2200" dirty="0">
                <a:solidFill>
                  <a:schemeClr val="tx1"/>
                </a:solidFill>
                <a:latin typeface="Arial" panose="020B0604020202020204" pitchFamily="34" charset="0"/>
                <a:cs typeface="Arial" panose="020B0604020202020204" pitchFamily="34" charset="0"/>
              </a:rPr>
              <a:t>Address key design concerns:</a:t>
            </a:r>
          </a:p>
          <a:p>
            <a:pPr lvl="1">
              <a:buFont typeface="Arial" panose="020B0604020202020204" pitchFamily="34" charset="0"/>
              <a:buChar char="•"/>
            </a:pPr>
            <a:r>
              <a:rPr lang="en-US" sz="2000" dirty="0">
                <a:solidFill>
                  <a:schemeClr val="tx1"/>
                </a:solidFill>
                <a:latin typeface="Arial" panose="020B0604020202020204" pitchFamily="34" charset="0"/>
                <a:cs typeface="Arial" panose="020B0604020202020204" pitchFamily="34" charset="0"/>
              </a:rPr>
              <a:t>Object creation (Factory Method)</a:t>
            </a:r>
          </a:p>
          <a:p>
            <a:pPr lvl="1">
              <a:buFont typeface="Arial" panose="020B0604020202020204" pitchFamily="34" charset="0"/>
              <a:buChar char="•"/>
            </a:pPr>
            <a:r>
              <a:rPr lang="en-US" sz="2000" dirty="0">
                <a:solidFill>
                  <a:schemeClr val="tx1"/>
                </a:solidFill>
                <a:latin typeface="Arial" panose="020B0604020202020204" pitchFamily="34" charset="0"/>
                <a:cs typeface="Arial" panose="020B0604020202020204" pitchFamily="34" charset="0"/>
              </a:rPr>
              <a:t>Global access control (Singleton)</a:t>
            </a:r>
          </a:p>
          <a:p>
            <a:pPr lvl="1">
              <a:buFont typeface="Arial" panose="020B0604020202020204" pitchFamily="34" charset="0"/>
              <a:buChar char="•"/>
            </a:pPr>
            <a:r>
              <a:rPr lang="en-US" sz="2000" dirty="0">
                <a:solidFill>
                  <a:schemeClr val="tx1"/>
                </a:solidFill>
                <a:latin typeface="Arial" panose="020B0604020202020204" pitchFamily="34" charset="0"/>
                <a:cs typeface="Arial" panose="020B0604020202020204" pitchFamily="34" charset="0"/>
              </a:rPr>
              <a:t>External system integration (Adapter)</a:t>
            </a:r>
          </a:p>
        </p:txBody>
      </p:sp>
    </p:spTree>
    <p:extLst>
      <p:ext uri="{BB962C8B-B14F-4D97-AF65-F5344CB8AC3E}">
        <p14:creationId xmlns:p14="http://schemas.microsoft.com/office/powerpoint/2010/main" val="17377071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CA597A-6106-C1FE-E41B-2B52D5309E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5C9E10-59C0-F67F-DA88-2A6BEF98DFA4}"/>
              </a:ext>
            </a:extLst>
          </p:cNvPr>
          <p:cNvSpPr>
            <a:spLocks noGrp="1"/>
          </p:cNvSpPr>
          <p:nvPr>
            <p:ph type="title"/>
          </p:nvPr>
        </p:nvSpPr>
        <p:spPr>
          <a:xfrm>
            <a:off x="1640156" y="163862"/>
            <a:ext cx="9864456" cy="1280890"/>
          </a:xfrm>
        </p:spPr>
        <p:txBody>
          <a:bodyPr>
            <a:normAutofit/>
          </a:bodyPr>
          <a:lstStyle/>
          <a:p>
            <a:r>
              <a:rPr lang="en-NZ" sz="4000" b="1" dirty="0">
                <a:solidFill>
                  <a:srgbClr val="FF0000"/>
                </a:solidFill>
                <a:latin typeface="Arial" panose="020B0604020202020204" pitchFamily="34" charset="0"/>
                <a:cs typeface="Arial" panose="020B0604020202020204" pitchFamily="34" charset="0"/>
              </a:rPr>
              <a:t>Factory Method Pattern</a:t>
            </a:r>
            <a:endParaRPr lang="en-NZ" sz="4000" b="1" noProof="0" dirty="0">
              <a:solidFill>
                <a:srgbClr val="FF0000"/>
              </a:solidFill>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B5370841-266A-B368-D36C-02CB1A83AE85}"/>
              </a:ext>
            </a:extLst>
          </p:cNvPr>
          <p:cNvPicPr>
            <a:picLocks noChangeAspect="1"/>
          </p:cNvPicPr>
          <p:nvPr/>
        </p:nvPicPr>
        <p:blipFill>
          <a:blip r:embed="rId3">
            <a:extLst>
              <a:ext uri="{28A0092B-C50C-407E-A947-70E740481C1C}">
                <a14:useLocalDpi xmlns:a14="http://schemas.microsoft.com/office/drawing/2010/main" val="0"/>
              </a:ext>
            </a:extLst>
          </a:blip>
          <a:srcRect l="8840" b="55849"/>
          <a:stretch>
            <a:fillRect/>
          </a:stretch>
        </p:blipFill>
        <p:spPr bwMode="auto">
          <a:xfrm>
            <a:off x="336000" y="3236976"/>
            <a:ext cx="11520000" cy="3373480"/>
          </a:xfrm>
          <a:prstGeom prst="rect">
            <a:avLst/>
          </a:prstGeom>
          <a:noFill/>
          <a:ln>
            <a:solidFill>
              <a:schemeClr val="tx1"/>
            </a:solidFill>
          </a:ln>
        </p:spPr>
      </p:pic>
      <p:sp>
        <p:nvSpPr>
          <p:cNvPr id="7" name="Rectangle 6">
            <a:extLst>
              <a:ext uri="{FF2B5EF4-FFF2-40B4-BE49-F238E27FC236}">
                <a16:creationId xmlns:a16="http://schemas.microsoft.com/office/drawing/2014/main" id="{DBE4143B-EBF7-981E-7AF2-C9AD022703CF}"/>
              </a:ext>
            </a:extLst>
          </p:cNvPr>
          <p:cNvSpPr/>
          <p:nvPr/>
        </p:nvSpPr>
        <p:spPr>
          <a:xfrm>
            <a:off x="4059936" y="3464846"/>
            <a:ext cx="6089904" cy="1198594"/>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a:solidFill>
                  <a:schemeClr val="tx1"/>
                </a:solidFill>
              </a:ln>
              <a:noFill/>
            </a:endParaRPr>
          </a:p>
        </p:txBody>
      </p:sp>
      <p:sp>
        <p:nvSpPr>
          <p:cNvPr id="8" name="Content Placeholder 2">
            <a:extLst>
              <a:ext uri="{FF2B5EF4-FFF2-40B4-BE49-F238E27FC236}">
                <a16:creationId xmlns:a16="http://schemas.microsoft.com/office/drawing/2014/main" id="{585ED4E8-34E7-26F1-B8FF-157175E6FB7A}"/>
              </a:ext>
            </a:extLst>
          </p:cNvPr>
          <p:cNvSpPr txBox="1">
            <a:spLocks/>
          </p:cNvSpPr>
          <p:nvPr/>
        </p:nvSpPr>
        <p:spPr>
          <a:xfrm>
            <a:off x="1640156" y="941176"/>
            <a:ext cx="9864456" cy="2634128"/>
          </a:xfrm>
          <a:prstGeom prst="rect">
            <a:avLst/>
          </a:prstGeom>
        </p:spPr>
        <p:txBody>
          <a:bodyPr vert="horz" lIns="91440" tIns="45720" rIns="91440" bIns="45720" numCol="2" rtlCol="0">
            <a:normAutofit fontScale="77500" lnSpcReduction="20000"/>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US" sz="2900" dirty="0">
                <a:solidFill>
                  <a:schemeClr val="tx1">
                    <a:lumMod val="95000"/>
                    <a:lumOff val="5000"/>
                  </a:schemeClr>
                </a:solidFill>
                <a:latin typeface="Arial" panose="020B0604020202020204" pitchFamily="34" charset="0"/>
                <a:cs typeface="Arial" panose="020B0604020202020204" pitchFamily="34" charset="0"/>
              </a:rPr>
              <a:t>Main components:</a:t>
            </a:r>
          </a:p>
          <a:p>
            <a:pPr lvl="1">
              <a:buFont typeface="Arial" panose="020B0604020202020204" pitchFamily="34" charset="0"/>
              <a:buChar char="•"/>
            </a:pPr>
            <a:r>
              <a:rPr lang="en-US" sz="2600" dirty="0">
                <a:solidFill>
                  <a:schemeClr val="tx1">
                    <a:lumMod val="95000"/>
                    <a:lumOff val="5000"/>
                  </a:schemeClr>
                </a:solidFill>
                <a:latin typeface="Arial" panose="020B0604020202020204" pitchFamily="34" charset="0"/>
                <a:cs typeface="Arial" panose="020B0604020202020204" pitchFamily="34" charset="0"/>
              </a:rPr>
              <a:t>Product (abstract class / interface)</a:t>
            </a:r>
          </a:p>
          <a:p>
            <a:pPr lvl="1">
              <a:buFont typeface="Arial" panose="020B0604020202020204" pitchFamily="34" charset="0"/>
              <a:buChar char="•"/>
            </a:pPr>
            <a:r>
              <a:rPr lang="en-US" sz="2600" dirty="0">
                <a:solidFill>
                  <a:schemeClr val="tx1">
                    <a:lumMod val="95000"/>
                    <a:lumOff val="5000"/>
                  </a:schemeClr>
                </a:solidFill>
                <a:latin typeface="Arial" panose="020B0604020202020204" pitchFamily="34" charset="0"/>
                <a:cs typeface="Arial" panose="020B0604020202020204" pitchFamily="34" charset="0"/>
              </a:rPr>
              <a:t>Concrete product</a:t>
            </a:r>
          </a:p>
          <a:p>
            <a:pPr lvl="1">
              <a:buFont typeface="Arial" panose="020B0604020202020204" pitchFamily="34" charset="0"/>
              <a:buChar char="•"/>
            </a:pPr>
            <a:r>
              <a:rPr lang="en-US" sz="2600" dirty="0">
                <a:solidFill>
                  <a:schemeClr val="tx1">
                    <a:lumMod val="95000"/>
                    <a:lumOff val="5000"/>
                  </a:schemeClr>
                </a:solidFill>
                <a:latin typeface="Arial" panose="020B0604020202020204" pitchFamily="34" charset="0"/>
                <a:cs typeface="Arial" panose="020B0604020202020204" pitchFamily="34" charset="0"/>
              </a:rPr>
              <a:t>Creator (abstract class)</a:t>
            </a:r>
          </a:p>
          <a:p>
            <a:pPr lvl="1">
              <a:buFont typeface="Arial" panose="020B0604020202020204" pitchFamily="34" charset="0"/>
              <a:buChar char="•"/>
            </a:pPr>
            <a:r>
              <a:rPr lang="en-US" sz="2600" dirty="0">
                <a:solidFill>
                  <a:schemeClr val="tx1">
                    <a:lumMod val="95000"/>
                    <a:lumOff val="5000"/>
                  </a:schemeClr>
                </a:solidFill>
                <a:latin typeface="Arial" panose="020B0604020202020204" pitchFamily="34" charset="0"/>
                <a:cs typeface="Arial" panose="020B0604020202020204" pitchFamily="34" charset="0"/>
              </a:rPr>
              <a:t>Concrete creator</a:t>
            </a:r>
          </a:p>
          <a:p>
            <a:pPr lvl="1">
              <a:buFont typeface="Arial" panose="020B0604020202020204" pitchFamily="34" charset="0"/>
              <a:buChar char="•"/>
            </a:pPr>
            <a:r>
              <a:rPr lang="en-US" sz="2600" dirty="0">
                <a:solidFill>
                  <a:schemeClr val="tx1">
                    <a:lumMod val="95000"/>
                    <a:lumOff val="5000"/>
                  </a:schemeClr>
                </a:solidFill>
                <a:latin typeface="Arial" panose="020B0604020202020204" pitchFamily="34" charset="0"/>
                <a:cs typeface="Arial" panose="020B0604020202020204" pitchFamily="34" charset="0"/>
              </a:rPr>
              <a:t>Client</a:t>
            </a:r>
          </a:p>
          <a:p>
            <a:pPr marL="457200" lvl="1" indent="0">
              <a:buNone/>
            </a:pPr>
            <a:endParaRPr lang="en-US" sz="2600" dirty="0">
              <a:solidFill>
                <a:schemeClr val="tx1">
                  <a:lumMod val="95000"/>
                  <a:lumOff val="5000"/>
                </a:schemeClr>
              </a:solidFill>
              <a:latin typeface="Arial" panose="020B0604020202020204" pitchFamily="34" charset="0"/>
              <a:cs typeface="Arial" panose="020B0604020202020204" pitchFamily="34" charset="0"/>
            </a:endParaRPr>
          </a:p>
          <a:p>
            <a:pPr>
              <a:buFont typeface="Arial" panose="020B0604020202020204" pitchFamily="34" charset="0"/>
              <a:buChar char="•"/>
            </a:pPr>
            <a:r>
              <a:rPr lang="en-US" sz="2900" dirty="0">
                <a:solidFill>
                  <a:schemeClr val="tx1">
                    <a:lumMod val="95000"/>
                    <a:lumOff val="5000"/>
                  </a:schemeClr>
                </a:solidFill>
                <a:latin typeface="Arial" panose="020B0604020202020204" pitchFamily="34" charset="0"/>
                <a:cs typeface="Arial" panose="020B0604020202020204" pitchFamily="34" charset="0"/>
              </a:rPr>
              <a:t>Key benefits:</a:t>
            </a:r>
          </a:p>
          <a:p>
            <a:pPr lvl="1">
              <a:buFont typeface="Arial" panose="020B0604020202020204" pitchFamily="34" charset="0"/>
              <a:buChar char="•"/>
            </a:pPr>
            <a:r>
              <a:rPr lang="en-US" sz="2600" dirty="0">
                <a:solidFill>
                  <a:schemeClr val="tx1">
                    <a:lumMod val="95000"/>
                    <a:lumOff val="5000"/>
                  </a:schemeClr>
                </a:solidFill>
                <a:latin typeface="Arial" panose="020B0604020202020204" pitchFamily="34" charset="0"/>
                <a:cs typeface="Arial" panose="020B0604020202020204" pitchFamily="34" charset="0"/>
              </a:rPr>
              <a:t>Reduces coupling</a:t>
            </a:r>
          </a:p>
          <a:p>
            <a:pPr lvl="1">
              <a:buFont typeface="Arial" panose="020B0604020202020204" pitchFamily="34" charset="0"/>
              <a:buChar char="•"/>
            </a:pPr>
            <a:r>
              <a:rPr lang="en-US" sz="2600" dirty="0">
                <a:solidFill>
                  <a:schemeClr val="tx1">
                    <a:lumMod val="95000"/>
                    <a:lumOff val="5000"/>
                  </a:schemeClr>
                </a:solidFill>
                <a:latin typeface="Arial" panose="020B0604020202020204" pitchFamily="34" charset="0"/>
                <a:cs typeface="Arial" panose="020B0604020202020204" pitchFamily="34" charset="0"/>
              </a:rPr>
              <a:t>Improves extensibility</a:t>
            </a:r>
          </a:p>
          <a:p>
            <a:pPr lvl="1">
              <a:buFont typeface="Arial" panose="020B0604020202020204" pitchFamily="34" charset="0"/>
              <a:buChar char="•"/>
            </a:pPr>
            <a:r>
              <a:rPr lang="en-US" sz="2600" dirty="0">
                <a:solidFill>
                  <a:schemeClr val="tx1">
                    <a:lumMod val="95000"/>
                    <a:lumOff val="5000"/>
                  </a:schemeClr>
                </a:solidFill>
                <a:latin typeface="Arial" panose="020B0604020202020204" pitchFamily="34" charset="0"/>
                <a:cs typeface="Arial" panose="020B0604020202020204" pitchFamily="34" charset="0"/>
              </a:rPr>
              <a:t>Follows Open/Closed Principle</a:t>
            </a:r>
          </a:p>
          <a:p>
            <a:pPr lvl="1">
              <a:buFont typeface="Arial" panose="020B0604020202020204" pitchFamily="34" charset="0"/>
              <a:buChar char="•"/>
            </a:pPr>
            <a:r>
              <a:rPr lang="en-US" sz="2600" dirty="0" err="1">
                <a:solidFill>
                  <a:schemeClr val="tx1">
                    <a:lumMod val="95000"/>
                    <a:lumOff val="5000"/>
                  </a:schemeClr>
                </a:solidFill>
                <a:latin typeface="Arial" panose="020B0604020202020204" pitchFamily="34" charset="0"/>
                <a:cs typeface="Arial" panose="020B0604020202020204" pitchFamily="34" charset="0"/>
              </a:rPr>
              <a:t>Centralises</a:t>
            </a:r>
            <a:r>
              <a:rPr lang="en-US" sz="2600" dirty="0">
                <a:solidFill>
                  <a:schemeClr val="tx1">
                    <a:lumMod val="95000"/>
                    <a:lumOff val="5000"/>
                  </a:schemeClr>
                </a:solidFill>
                <a:latin typeface="Arial" panose="020B0604020202020204" pitchFamily="34" charset="0"/>
                <a:cs typeface="Arial" panose="020B0604020202020204" pitchFamily="34" charset="0"/>
              </a:rPr>
              <a:t> object creation</a:t>
            </a:r>
          </a:p>
          <a:p>
            <a:pPr lvl="1">
              <a:buFont typeface="Arial" panose="020B0604020202020204" pitchFamily="34" charset="0"/>
              <a:buChar char="•"/>
            </a:pPr>
            <a:r>
              <a:rPr lang="en-US" sz="2600" dirty="0">
                <a:solidFill>
                  <a:schemeClr val="tx1">
                    <a:lumMod val="95000"/>
                    <a:lumOff val="5000"/>
                  </a:schemeClr>
                </a:solidFill>
                <a:latin typeface="Arial" panose="020B0604020202020204" pitchFamily="34" charset="0"/>
                <a:cs typeface="Arial" panose="020B0604020202020204" pitchFamily="34" charset="0"/>
              </a:rPr>
              <a:t>Improves maintainability</a:t>
            </a:r>
            <a:endParaRPr lang="en-US" sz="1200" dirty="0">
              <a:solidFill>
                <a:schemeClr val="tx1">
                  <a:lumMod val="95000"/>
                  <a:lumOff val="5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602707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2995B3-69C5-2502-C6F3-08638FD6EF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173DC2-DCE8-4D91-B3E0-90E3EDB74EC5}"/>
              </a:ext>
            </a:extLst>
          </p:cNvPr>
          <p:cNvSpPr>
            <a:spLocks noGrp="1"/>
          </p:cNvSpPr>
          <p:nvPr>
            <p:ph type="title"/>
          </p:nvPr>
        </p:nvSpPr>
        <p:spPr>
          <a:xfrm>
            <a:off x="1640156" y="163862"/>
            <a:ext cx="9864456" cy="1280890"/>
          </a:xfrm>
        </p:spPr>
        <p:txBody>
          <a:bodyPr>
            <a:normAutofit/>
          </a:bodyPr>
          <a:lstStyle/>
          <a:p>
            <a:r>
              <a:rPr lang="en-NZ" sz="4000" b="1" dirty="0">
                <a:solidFill>
                  <a:srgbClr val="FF0000"/>
                </a:solidFill>
                <a:latin typeface="Arial" panose="020B0604020202020204" pitchFamily="34" charset="0"/>
                <a:cs typeface="Arial" panose="020B0604020202020204" pitchFamily="34" charset="0"/>
              </a:rPr>
              <a:t>Singleton Pattern</a:t>
            </a:r>
            <a:endParaRPr lang="en-NZ" sz="4000" b="1" noProof="0" dirty="0">
              <a:solidFill>
                <a:srgbClr val="FF0000"/>
              </a:solidFill>
              <a:latin typeface="Arial" panose="020B0604020202020204" pitchFamily="34" charset="0"/>
              <a:cs typeface="Arial" panose="020B0604020202020204" pitchFamily="34" charset="0"/>
            </a:endParaRPr>
          </a:p>
        </p:txBody>
      </p:sp>
      <p:sp>
        <p:nvSpPr>
          <p:cNvPr id="5" name="Content Placeholder 4">
            <a:extLst>
              <a:ext uri="{FF2B5EF4-FFF2-40B4-BE49-F238E27FC236}">
                <a16:creationId xmlns:a16="http://schemas.microsoft.com/office/drawing/2014/main" id="{FD8BBD0F-5643-2CD9-9619-43D406199ACC}"/>
              </a:ext>
            </a:extLst>
          </p:cNvPr>
          <p:cNvSpPr>
            <a:spLocks noGrp="1"/>
          </p:cNvSpPr>
          <p:nvPr>
            <p:ph idx="1"/>
          </p:nvPr>
        </p:nvSpPr>
        <p:spPr>
          <a:xfrm>
            <a:off x="448056" y="1353312"/>
            <a:ext cx="4809296" cy="5184648"/>
          </a:xfrm>
        </p:spPr>
        <p:txBody>
          <a:bodyPr>
            <a:normAutofit/>
          </a:bodyPr>
          <a:lstStyle/>
          <a:p>
            <a:pPr>
              <a:buFont typeface="Arial" panose="020B0604020202020204" pitchFamily="34" charset="0"/>
              <a:buChar char="•"/>
            </a:pPr>
            <a:r>
              <a:rPr lang="en-US" sz="2000" dirty="0">
                <a:solidFill>
                  <a:schemeClr val="tx1">
                    <a:lumMod val="95000"/>
                    <a:lumOff val="5000"/>
                  </a:schemeClr>
                </a:solidFill>
                <a:latin typeface="Arial" panose="020B0604020202020204" pitchFamily="34" charset="0"/>
                <a:cs typeface="Arial" panose="020B0604020202020204" pitchFamily="34" charset="0"/>
              </a:rPr>
              <a:t>Main components:</a:t>
            </a:r>
          </a:p>
          <a:p>
            <a:pPr lvl="1">
              <a:buFont typeface="Arial" panose="020B0604020202020204" pitchFamily="34" charset="0"/>
              <a:buChar char="•"/>
            </a:pPr>
            <a:r>
              <a:rPr lang="en-US" sz="1800" dirty="0">
                <a:solidFill>
                  <a:schemeClr val="tx1">
                    <a:lumMod val="95000"/>
                    <a:lumOff val="5000"/>
                  </a:schemeClr>
                </a:solidFill>
                <a:latin typeface="Arial" panose="020B0604020202020204" pitchFamily="34" charset="0"/>
                <a:cs typeface="Arial" panose="020B0604020202020204" pitchFamily="34" charset="0"/>
              </a:rPr>
              <a:t>Singleton class</a:t>
            </a:r>
          </a:p>
          <a:p>
            <a:pPr lvl="1">
              <a:buFont typeface="Arial" panose="020B0604020202020204" pitchFamily="34" charset="0"/>
              <a:buChar char="•"/>
            </a:pPr>
            <a:r>
              <a:rPr lang="en-US" sz="1800" dirty="0">
                <a:solidFill>
                  <a:schemeClr val="tx1">
                    <a:lumMod val="95000"/>
                    <a:lumOff val="5000"/>
                  </a:schemeClr>
                </a:solidFill>
                <a:latin typeface="Arial" panose="020B0604020202020204" pitchFamily="34" charset="0"/>
                <a:cs typeface="Arial" panose="020B0604020202020204" pitchFamily="34" charset="0"/>
              </a:rPr>
              <a:t>Private constructor</a:t>
            </a:r>
          </a:p>
          <a:p>
            <a:pPr lvl="1">
              <a:buFont typeface="Arial" panose="020B0604020202020204" pitchFamily="34" charset="0"/>
              <a:buChar char="•"/>
            </a:pPr>
            <a:r>
              <a:rPr lang="en-US" sz="1800" dirty="0">
                <a:solidFill>
                  <a:schemeClr val="tx1">
                    <a:lumMod val="95000"/>
                    <a:lumOff val="5000"/>
                  </a:schemeClr>
                </a:solidFill>
                <a:latin typeface="Arial" panose="020B0604020202020204" pitchFamily="34" charset="0"/>
                <a:cs typeface="Arial" panose="020B0604020202020204" pitchFamily="34" charset="0"/>
              </a:rPr>
              <a:t>Static member</a:t>
            </a:r>
          </a:p>
          <a:p>
            <a:pPr lvl="1">
              <a:buFont typeface="Arial" panose="020B0604020202020204" pitchFamily="34" charset="0"/>
              <a:buChar char="•"/>
            </a:pPr>
            <a:r>
              <a:rPr lang="en-US" sz="1800" dirty="0">
                <a:solidFill>
                  <a:schemeClr val="tx1">
                    <a:lumMod val="95000"/>
                    <a:lumOff val="5000"/>
                  </a:schemeClr>
                </a:solidFill>
                <a:latin typeface="Arial" panose="020B0604020202020204" pitchFamily="34" charset="0"/>
                <a:cs typeface="Arial" panose="020B0604020202020204" pitchFamily="34" charset="0"/>
              </a:rPr>
              <a:t>Static factory method</a:t>
            </a:r>
          </a:p>
          <a:p>
            <a:pPr>
              <a:buFont typeface="Arial" panose="020B0604020202020204" pitchFamily="34" charset="0"/>
              <a:buChar char="•"/>
            </a:pPr>
            <a:r>
              <a:rPr lang="en-US" sz="2000" dirty="0">
                <a:solidFill>
                  <a:schemeClr val="tx1">
                    <a:lumMod val="95000"/>
                    <a:lumOff val="5000"/>
                  </a:schemeClr>
                </a:solidFill>
                <a:latin typeface="Arial" panose="020B0604020202020204" pitchFamily="34" charset="0"/>
                <a:cs typeface="Arial" panose="020B0604020202020204" pitchFamily="34" charset="0"/>
              </a:rPr>
              <a:t>Key benefits:</a:t>
            </a:r>
          </a:p>
          <a:p>
            <a:pPr lvl="1">
              <a:buFont typeface="Arial" panose="020B0604020202020204" pitchFamily="34" charset="0"/>
              <a:buChar char="•"/>
            </a:pPr>
            <a:r>
              <a:rPr lang="en-US" sz="1800" dirty="0">
                <a:solidFill>
                  <a:schemeClr val="tx1">
                    <a:lumMod val="95000"/>
                    <a:lumOff val="5000"/>
                  </a:schemeClr>
                </a:solidFill>
                <a:latin typeface="Arial" panose="020B0604020202020204" pitchFamily="34" charset="0"/>
                <a:cs typeface="Arial" panose="020B0604020202020204" pitchFamily="34" charset="0"/>
              </a:rPr>
              <a:t>Ensures only one instance exists</a:t>
            </a:r>
          </a:p>
          <a:p>
            <a:pPr lvl="1">
              <a:buFont typeface="Arial" panose="020B0604020202020204" pitchFamily="34" charset="0"/>
              <a:buChar char="•"/>
            </a:pPr>
            <a:r>
              <a:rPr lang="en-US" sz="1800" dirty="0">
                <a:solidFill>
                  <a:schemeClr val="tx1">
                    <a:lumMod val="95000"/>
                    <a:lumOff val="5000"/>
                  </a:schemeClr>
                </a:solidFill>
                <a:latin typeface="Arial" panose="020B0604020202020204" pitchFamily="34" charset="0"/>
                <a:cs typeface="Arial" panose="020B0604020202020204" pitchFamily="34" charset="0"/>
              </a:rPr>
              <a:t>Provides global access to shared service</a:t>
            </a:r>
          </a:p>
          <a:p>
            <a:pPr lvl="1">
              <a:buFont typeface="Arial" panose="020B0604020202020204" pitchFamily="34" charset="0"/>
              <a:buChar char="•"/>
            </a:pPr>
            <a:r>
              <a:rPr lang="en-US" sz="1800" dirty="0">
                <a:solidFill>
                  <a:schemeClr val="tx1">
                    <a:lumMod val="95000"/>
                    <a:lumOff val="5000"/>
                  </a:schemeClr>
                </a:solidFill>
                <a:latin typeface="Arial" panose="020B0604020202020204" pitchFamily="34" charset="0"/>
                <a:cs typeface="Arial" panose="020B0604020202020204" pitchFamily="34" charset="0"/>
              </a:rPr>
              <a:t>Improves consistency</a:t>
            </a:r>
          </a:p>
          <a:p>
            <a:pPr lvl="1">
              <a:buFont typeface="Arial" panose="020B0604020202020204" pitchFamily="34" charset="0"/>
              <a:buChar char="•"/>
            </a:pPr>
            <a:r>
              <a:rPr lang="en-US" sz="1800" dirty="0">
                <a:solidFill>
                  <a:schemeClr val="tx1">
                    <a:lumMod val="95000"/>
                    <a:lumOff val="5000"/>
                  </a:schemeClr>
                </a:solidFill>
                <a:latin typeface="Arial" panose="020B0604020202020204" pitchFamily="34" charset="0"/>
                <a:cs typeface="Arial" panose="020B0604020202020204" pitchFamily="34" charset="0"/>
              </a:rPr>
              <a:t>Supports controlled resource management</a:t>
            </a:r>
          </a:p>
        </p:txBody>
      </p:sp>
      <p:pic>
        <p:nvPicPr>
          <p:cNvPr id="6" name="Picture 5">
            <a:extLst>
              <a:ext uri="{FF2B5EF4-FFF2-40B4-BE49-F238E27FC236}">
                <a16:creationId xmlns:a16="http://schemas.microsoft.com/office/drawing/2014/main" id="{7EEC3A9F-8EBB-D242-50A3-6BEDC1E98292}"/>
              </a:ext>
            </a:extLst>
          </p:cNvPr>
          <p:cNvPicPr>
            <a:picLocks noChangeAspect="1"/>
          </p:cNvPicPr>
          <p:nvPr/>
        </p:nvPicPr>
        <p:blipFill>
          <a:blip r:embed="rId3"/>
          <a:stretch>
            <a:fillRect/>
          </a:stretch>
        </p:blipFill>
        <p:spPr>
          <a:xfrm>
            <a:off x="5394512" y="934138"/>
            <a:ext cx="6413888" cy="5760000"/>
          </a:xfrm>
          <a:prstGeom prst="rect">
            <a:avLst/>
          </a:prstGeom>
          <a:ln>
            <a:solidFill>
              <a:schemeClr val="tx1"/>
            </a:solidFill>
          </a:ln>
        </p:spPr>
      </p:pic>
    </p:spTree>
    <p:extLst>
      <p:ext uri="{BB962C8B-B14F-4D97-AF65-F5344CB8AC3E}">
        <p14:creationId xmlns:p14="http://schemas.microsoft.com/office/powerpoint/2010/main" val="3671491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41011E-8871-D4E4-3B0D-FC75134711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72DBCE-3F83-D477-BE6F-7B9F8EB57A30}"/>
              </a:ext>
            </a:extLst>
          </p:cNvPr>
          <p:cNvSpPr>
            <a:spLocks noGrp="1"/>
          </p:cNvSpPr>
          <p:nvPr>
            <p:ph type="title"/>
          </p:nvPr>
        </p:nvSpPr>
        <p:spPr>
          <a:xfrm>
            <a:off x="1640156" y="163862"/>
            <a:ext cx="9864456" cy="1280890"/>
          </a:xfrm>
        </p:spPr>
        <p:txBody>
          <a:bodyPr>
            <a:normAutofit/>
          </a:bodyPr>
          <a:lstStyle/>
          <a:p>
            <a:r>
              <a:rPr lang="en-NZ" sz="4000" b="1" dirty="0">
                <a:solidFill>
                  <a:srgbClr val="FF0000"/>
                </a:solidFill>
                <a:latin typeface="Arial" panose="020B0604020202020204" pitchFamily="34" charset="0"/>
                <a:cs typeface="Arial" panose="020B0604020202020204" pitchFamily="34" charset="0"/>
              </a:rPr>
              <a:t>Adapter Pattern</a:t>
            </a:r>
            <a:endParaRPr lang="en-NZ" sz="4000" b="1" noProof="0" dirty="0">
              <a:solidFill>
                <a:srgbClr val="FF0000"/>
              </a:solidFill>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244A174B-4BAB-1293-C63F-0FEE1AA55072}"/>
              </a:ext>
            </a:extLst>
          </p:cNvPr>
          <p:cNvPicPr>
            <a:picLocks noChangeAspect="1"/>
          </p:cNvPicPr>
          <p:nvPr/>
        </p:nvPicPr>
        <p:blipFill>
          <a:blip r:embed="rId3"/>
          <a:srcRect t="41567"/>
          <a:stretch>
            <a:fillRect/>
          </a:stretch>
        </p:blipFill>
        <p:spPr>
          <a:xfrm>
            <a:off x="1503844" y="3328416"/>
            <a:ext cx="9184311" cy="3365722"/>
          </a:xfrm>
          <a:prstGeom prst="rect">
            <a:avLst/>
          </a:prstGeom>
          <a:ln>
            <a:solidFill>
              <a:schemeClr val="tx1"/>
            </a:solidFill>
          </a:ln>
        </p:spPr>
      </p:pic>
      <p:sp>
        <p:nvSpPr>
          <p:cNvPr id="7" name="Content Placeholder 2">
            <a:extLst>
              <a:ext uri="{FF2B5EF4-FFF2-40B4-BE49-F238E27FC236}">
                <a16:creationId xmlns:a16="http://schemas.microsoft.com/office/drawing/2014/main" id="{B2834FDF-077B-B93A-7188-DEFC3B92B524}"/>
              </a:ext>
            </a:extLst>
          </p:cNvPr>
          <p:cNvSpPr txBox="1">
            <a:spLocks/>
          </p:cNvSpPr>
          <p:nvPr/>
        </p:nvSpPr>
        <p:spPr>
          <a:xfrm>
            <a:off x="1640156" y="941176"/>
            <a:ext cx="9864456" cy="2387240"/>
          </a:xfrm>
          <a:prstGeom prst="rect">
            <a:avLst/>
          </a:prstGeom>
        </p:spPr>
        <p:txBody>
          <a:bodyPr vert="horz" lIns="91440" tIns="45720" rIns="91440" bIns="45720" numCol="2" rtlCol="0">
            <a:normAutofit fontScale="70000" lnSpcReduction="20000"/>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US" sz="2900" dirty="0">
                <a:solidFill>
                  <a:schemeClr val="tx1">
                    <a:lumMod val="95000"/>
                    <a:lumOff val="5000"/>
                  </a:schemeClr>
                </a:solidFill>
                <a:latin typeface="Arial" panose="020B0604020202020204" pitchFamily="34" charset="0"/>
                <a:cs typeface="Arial" panose="020B0604020202020204" pitchFamily="34" charset="0"/>
              </a:rPr>
              <a:t>Main components:</a:t>
            </a:r>
          </a:p>
          <a:p>
            <a:pPr lvl="1">
              <a:buFont typeface="Arial" panose="020B0604020202020204" pitchFamily="34" charset="0"/>
              <a:buChar char="•"/>
            </a:pPr>
            <a:r>
              <a:rPr lang="en-US" sz="2700" dirty="0">
                <a:solidFill>
                  <a:schemeClr val="tx1">
                    <a:lumMod val="95000"/>
                    <a:lumOff val="5000"/>
                  </a:schemeClr>
                </a:solidFill>
                <a:latin typeface="Arial" panose="020B0604020202020204" pitchFamily="34" charset="0"/>
                <a:cs typeface="Arial" panose="020B0604020202020204" pitchFamily="34" charset="0"/>
              </a:rPr>
              <a:t>Target interface</a:t>
            </a:r>
          </a:p>
          <a:p>
            <a:pPr lvl="1">
              <a:buFont typeface="Arial" panose="020B0604020202020204" pitchFamily="34" charset="0"/>
              <a:buChar char="•"/>
            </a:pPr>
            <a:r>
              <a:rPr lang="en-US" sz="2700" dirty="0" err="1">
                <a:solidFill>
                  <a:schemeClr val="tx1">
                    <a:lumMod val="95000"/>
                    <a:lumOff val="5000"/>
                  </a:schemeClr>
                </a:solidFill>
                <a:latin typeface="Arial" panose="020B0604020202020204" pitchFamily="34" charset="0"/>
                <a:cs typeface="Arial" panose="020B0604020202020204" pitchFamily="34" charset="0"/>
              </a:rPr>
              <a:t>Adaptee</a:t>
            </a:r>
            <a:r>
              <a:rPr lang="en-US" sz="2700" dirty="0">
                <a:solidFill>
                  <a:schemeClr val="tx1">
                    <a:lumMod val="95000"/>
                    <a:lumOff val="5000"/>
                  </a:schemeClr>
                </a:solidFill>
                <a:latin typeface="Arial" panose="020B0604020202020204" pitchFamily="34" charset="0"/>
                <a:cs typeface="Arial" panose="020B0604020202020204" pitchFamily="34" charset="0"/>
              </a:rPr>
              <a:t> (legacy system)</a:t>
            </a:r>
          </a:p>
          <a:p>
            <a:pPr lvl="1">
              <a:buFont typeface="Arial" panose="020B0604020202020204" pitchFamily="34" charset="0"/>
              <a:buChar char="•"/>
            </a:pPr>
            <a:r>
              <a:rPr lang="en-US" sz="2700" dirty="0">
                <a:solidFill>
                  <a:schemeClr val="tx1">
                    <a:lumMod val="95000"/>
                    <a:lumOff val="5000"/>
                  </a:schemeClr>
                </a:solidFill>
                <a:latin typeface="Arial" panose="020B0604020202020204" pitchFamily="34" charset="0"/>
                <a:cs typeface="Arial" panose="020B0604020202020204" pitchFamily="34" charset="0"/>
              </a:rPr>
              <a:t>Adapter</a:t>
            </a:r>
          </a:p>
          <a:p>
            <a:pPr lvl="1">
              <a:buFont typeface="Arial" panose="020B0604020202020204" pitchFamily="34" charset="0"/>
              <a:buChar char="•"/>
            </a:pPr>
            <a:r>
              <a:rPr lang="en-US" sz="2700" dirty="0">
                <a:solidFill>
                  <a:schemeClr val="tx1">
                    <a:lumMod val="95000"/>
                    <a:lumOff val="5000"/>
                  </a:schemeClr>
                </a:solidFill>
                <a:latin typeface="Arial" panose="020B0604020202020204" pitchFamily="34" charset="0"/>
                <a:cs typeface="Arial" panose="020B0604020202020204" pitchFamily="34" charset="0"/>
              </a:rPr>
              <a:t>Client</a:t>
            </a:r>
          </a:p>
          <a:p>
            <a:pPr>
              <a:buFont typeface="Arial" panose="020B0604020202020204" pitchFamily="34" charset="0"/>
              <a:buChar char="•"/>
            </a:pPr>
            <a:endParaRPr lang="en-US" sz="2900" dirty="0">
              <a:solidFill>
                <a:schemeClr val="tx1">
                  <a:lumMod val="95000"/>
                  <a:lumOff val="5000"/>
                </a:schemeClr>
              </a:solidFill>
              <a:latin typeface="Arial" panose="020B0604020202020204" pitchFamily="34" charset="0"/>
              <a:cs typeface="Arial" panose="020B0604020202020204" pitchFamily="34" charset="0"/>
            </a:endParaRPr>
          </a:p>
          <a:p>
            <a:pPr>
              <a:buFont typeface="Arial" panose="020B0604020202020204" pitchFamily="34" charset="0"/>
              <a:buChar char="•"/>
            </a:pPr>
            <a:r>
              <a:rPr lang="en-US" sz="2900" dirty="0">
                <a:solidFill>
                  <a:schemeClr val="tx1">
                    <a:lumMod val="95000"/>
                    <a:lumOff val="5000"/>
                  </a:schemeClr>
                </a:solidFill>
                <a:latin typeface="Arial" panose="020B0604020202020204" pitchFamily="34" charset="0"/>
                <a:cs typeface="Arial" panose="020B0604020202020204" pitchFamily="34" charset="0"/>
              </a:rPr>
              <a:t>Key benefits:</a:t>
            </a:r>
          </a:p>
          <a:p>
            <a:pPr lvl="1">
              <a:buFont typeface="Arial" panose="020B0604020202020204" pitchFamily="34" charset="0"/>
              <a:buChar char="•"/>
            </a:pPr>
            <a:r>
              <a:rPr lang="en-US" sz="2700" dirty="0">
                <a:solidFill>
                  <a:schemeClr val="tx1">
                    <a:lumMod val="95000"/>
                    <a:lumOff val="5000"/>
                  </a:schemeClr>
                </a:solidFill>
                <a:latin typeface="Arial" panose="020B0604020202020204" pitchFamily="34" charset="0"/>
                <a:cs typeface="Arial" panose="020B0604020202020204" pitchFamily="34" charset="0"/>
              </a:rPr>
              <a:t>Integrates legacy systems</a:t>
            </a:r>
          </a:p>
          <a:p>
            <a:pPr lvl="1">
              <a:buFont typeface="Arial" panose="020B0604020202020204" pitchFamily="34" charset="0"/>
              <a:buChar char="•"/>
            </a:pPr>
            <a:r>
              <a:rPr lang="en-US" sz="2700" dirty="0">
                <a:solidFill>
                  <a:schemeClr val="tx1">
                    <a:lumMod val="95000"/>
                    <a:lumOff val="5000"/>
                  </a:schemeClr>
                </a:solidFill>
                <a:latin typeface="Arial" panose="020B0604020202020204" pitchFamily="34" charset="0"/>
                <a:cs typeface="Arial" panose="020B0604020202020204" pitchFamily="34" charset="0"/>
              </a:rPr>
              <a:t>Converts incompatible interfaces</a:t>
            </a:r>
          </a:p>
          <a:p>
            <a:pPr lvl="1">
              <a:buFont typeface="Arial" panose="020B0604020202020204" pitchFamily="34" charset="0"/>
              <a:buChar char="•"/>
            </a:pPr>
            <a:r>
              <a:rPr lang="en-US" sz="2700" dirty="0">
                <a:solidFill>
                  <a:schemeClr val="tx1">
                    <a:lumMod val="95000"/>
                    <a:lumOff val="5000"/>
                  </a:schemeClr>
                </a:solidFill>
                <a:latin typeface="Arial" panose="020B0604020202020204" pitchFamily="34" charset="0"/>
                <a:cs typeface="Arial" panose="020B0604020202020204" pitchFamily="34" charset="0"/>
              </a:rPr>
              <a:t>Reduces impact of external changes</a:t>
            </a:r>
          </a:p>
          <a:p>
            <a:pPr lvl="1">
              <a:buFont typeface="Arial" panose="020B0604020202020204" pitchFamily="34" charset="0"/>
              <a:buChar char="•"/>
            </a:pPr>
            <a:r>
              <a:rPr lang="en-US" sz="2700" dirty="0">
                <a:solidFill>
                  <a:schemeClr val="tx1">
                    <a:lumMod val="95000"/>
                    <a:lumOff val="5000"/>
                  </a:schemeClr>
                </a:solidFill>
                <a:latin typeface="Arial" panose="020B0604020202020204" pitchFamily="34" charset="0"/>
                <a:cs typeface="Arial" panose="020B0604020202020204" pitchFamily="34" charset="0"/>
              </a:rPr>
              <a:t>Improves flexibility and reuse</a:t>
            </a:r>
          </a:p>
          <a:p>
            <a:pPr lvl="1">
              <a:buFont typeface="Arial" panose="020B0604020202020204" pitchFamily="34" charset="0"/>
              <a:buChar char="•"/>
            </a:pPr>
            <a:r>
              <a:rPr lang="en-US" sz="2700" dirty="0">
                <a:solidFill>
                  <a:schemeClr val="tx1">
                    <a:lumMod val="95000"/>
                    <a:lumOff val="5000"/>
                  </a:schemeClr>
                </a:solidFill>
                <a:latin typeface="Arial" panose="020B0604020202020204" pitchFamily="34" charset="0"/>
                <a:cs typeface="Arial" panose="020B0604020202020204" pitchFamily="34" charset="0"/>
              </a:rPr>
              <a:t>Separates system from external services</a:t>
            </a:r>
            <a:endParaRPr lang="en-US" sz="1000" dirty="0">
              <a:solidFill>
                <a:schemeClr val="tx1">
                  <a:lumMod val="95000"/>
                  <a:lumOff val="5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520047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9D79CD-8012-E27E-CBC4-78D4DB51C5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4993B0-FA59-79E1-D389-0DBE01FE4174}"/>
              </a:ext>
            </a:extLst>
          </p:cNvPr>
          <p:cNvSpPr>
            <a:spLocks noGrp="1"/>
          </p:cNvSpPr>
          <p:nvPr>
            <p:ph type="title"/>
          </p:nvPr>
        </p:nvSpPr>
        <p:spPr>
          <a:xfrm>
            <a:off x="1640156" y="163862"/>
            <a:ext cx="9864456" cy="1280890"/>
          </a:xfrm>
        </p:spPr>
        <p:txBody>
          <a:bodyPr>
            <a:normAutofit/>
          </a:bodyPr>
          <a:lstStyle/>
          <a:p>
            <a:r>
              <a:rPr lang="en-NZ" sz="4000" b="1" dirty="0">
                <a:solidFill>
                  <a:srgbClr val="FF0000"/>
                </a:solidFill>
                <a:latin typeface="Arial" panose="020B0604020202020204" pitchFamily="34" charset="0"/>
                <a:cs typeface="Arial" panose="020B0604020202020204" pitchFamily="34" charset="0"/>
              </a:rPr>
              <a:t>Overall Design Improvements</a:t>
            </a:r>
            <a:endParaRPr lang="en-NZ" sz="4000" b="1" noProof="0" dirty="0">
              <a:solidFill>
                <a:srgbClr val="FF0000"/>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0EFB61F2-8AEB-8BD8-1067-81AC9D2F3E66}"/>
              </a:ext>
            </a:extLst>
          </p:cNvPr>
          <p:cNvSpPr>
            <a:spLocks noGrp="1"/>
          </p:cNvSpPr>
          <p:nvPr>
            <p:ph idx="1"/>
          </p:nvPr>
        </p:nvSpPr>
        <p:spPr>
          <a:xfrm>
            <a:off x="1640156" y="1207008"/>
            <a:ext cx="9864456" cy="5559552"/>
          </a:xfrm>
        </p:spPr>
        <p:txBody>
          <a:bodyPr>
            <a:normAutofit/>
          </a:bodyPr>
          <a:lstStyle/>
          <a:p>
            <a:pPr>
              <a:buFont typeface="Arial" panose="020B0604020202020204" pitchFamily="34" charset="0"/>
              <a:buChar char="•"/>
            </a:pPr>
            <a:r>
              <a:rPr lang="en-US" sz="2200" dirty="0">
                <a:solidFill>
                  <a:schemeClr val="tx1"/>
                </a:solidFill>
                <a:latin typeface="Arial" panose="020B0604020202020204" pitchFamily="34" charset="0"/>
                <a:cs typeface="Arial" panose="020B0604020202020204" pitchFamily="34" charset="0"/>
              </a:rPr>
              <a:t>Improved system modularity through separation of responsibilities</a:t>
            </a:r>
          </a:p>
          <a:p>
            <a:pPr>
              <a:buFont typeface="Arial" panose="020B0604020202020204" pitchFamily="34" charset="0"/>
              <a:buChar char="•"/>
            </a:pPr>
            <a:r>
              <a:rPr lang="en-US" sz="2200" dirty="0">
                <a:solidFill>
                  <a:schemeClr val="tx1"/>
                </a:solidFill>
                <a:latin typeface="Arial" panose="020B0604020202020204" pitchFamily="34" charset="0"/>
                <a:cs typeface="Arial" panose="020B0604020202020204" pitchFamily="34" charset="0"/>
              </a:rPr>
              <a:t>Reduced coupling between classes and external systems</a:t>
            </a:r>
          </a:p>
          <a:p>
            <a:pPr>
              <a:buFont typeface="Arial" panose="020B0604020202020204" pitchFamily="34" charset="0"/>
              <a:buChar char="•"/>
            </a:pPr>
            <a:r>
              <a:rPr lang="en-US" sz="2200" dirty="0">
                <a:solidFill>
                  <a:schemeClr val="tx1"/>
                </a:solidFill>
                <a:latin typeface="Arial" panose="020B0604020202020204" pitchFamily="34" charset="0"/>
                <a:cs typeface="Arial" panose="020B0604020202020204" pitchFamily="34" charset="0"/>
              </a:rPr>
              <a:t>Increased cohesion within key modules (creation, logging, integration)</a:t>
            </a:r>
          </a:p>
          <a:p>
            <a:pPr>
              <a:buFont typeface="Arial" panose="020B0604020202020204" pitchFamily="34" charset="0"/>
              <a:buChar char="•"/>
            </a:pPr>
            <a:r>
              <a:rPr lang="en-US" sz="2200" dirty="0">
                <a:solidFill>
                  <a:schemeClr val="tx1"/>
                </a:solidFill>
                <a:latin typeface="Arial" panose="020B0604020202020204" pitchFamily="34" charset="0"/>
                <a:cs typeface="Arial" panose="020B0604020202020204" pitchFamily="34" charset="0"/>
              </a:rPr>
              <a:t>Introduced abstraction layers for better system structure</a:t>
            </a:r>
          </a:p>
          <a:p>
            <a:pPr>
              <a:buFont typeface="Arial" panose="020B0604020202020204" pitchFamily="34" charset="0"/>
              <a:buChar char="•"/>
            </a:pPr>
            <a:r>
              <a:rPr lang="en-US" sz="2200" dirty="0">
                <a:solidFill>
                  <a:schemeClr val="tx1"/>
                </a:solidFill>
                <a:latin typeface="Arial" panose="020B0604020202020204" pitchFamily="34" charset="0"/>
                <a:cs typeface="Arial" panose="020B0604020202020204" pitchFamily="34" charset="0"/>
              </a:rPr>
              <a:t>Improved scalability and extensibility for future requirements</a:t>
            </a:r>
          </a:p>
          <a:p>
            <a:pPr>
              <a:buFont typeface="Arial" panose="020B0604020202020204" pitchFamily="34" charset="0"/>
              <a:buChar char="•"/>
            </a:pPr>
            <a:r>
              <a:rPr lang="en-US" sz="2200" dirty="0">
                <a:solidFill>
                  <a:schemeClr val="tx1"/>
                </a:solidFill>
                <a:latin typeface="Arial" panose="020B0604020202020204" pitchFamily="34" charset="0"/>
                <a:cs typeface="Arial" panose="020B0604020202020204" pitchFamily="34" charset="0"/>
              </a:rPr>
              <a:t>Enhanced maintainability through reusable and flexible components</a:t>
            </a:r>
          </a:p>
          <a:p>
            <a:pPr>
              <a:buFont typeface="Arial" panose="020B0604020202020204" pitchFamily="34" charset="0"/>
              <a:buChar char="•"/>
            </a:pPr>
            <a:r>
              <a:rPr lang="en-US" sz="2200" dirty="0">
                <a:solidFill>
                  <a:schemeClr val="tx1"/>
                </a:solidFill>
                <a:latin typeface="Arial" panose="020B0604020202020204" pitchFamily="34" charset="0"/>
                <a:cs typeface="Arial" panose="020B0604020202020204" pitchFamily="34" charset="0"/>
              </a:rPr>
              <a:t>Clear separation of concerns:</a:t>
            </a:r>
          </a:p>
          <a:p>
            <a:pPr lvl="1">
              <a:buFont typeface="Arial" panose="020B0604020202020204" pitchFamily="34" charset="0"/>
              <a:buChar char="•"/>
            </a:pPr>
            <a:r>
              <a:rPr lang="en-US" sz="2000" dirty="0">
                <a:solidFill>
                  <a:schemeClr val="tx1"/>
                </a:solidFill>
                <a:latin typeface="Arial" panose="020B0604020202020204" pitchFamily="34" charset="0"/>
                <a:cs typeface="Arial" panose="020B0604020202020204" pitchFamily="34" charset="0"/>
              </a:rPr>
              <a:t>Object creation (Factory Method)</a:t>
            </a:r>
          </a:p>
          <a:p>
            <a:pPr lvl="1">
              <a:buFont typeface="Arial" panose="020B0604020202020204" pitchFamily="34" charset="0"/>
              <a:buChar char="•"/>
            </a:pPr>
            <a:r>
              <a:rPr lang="en-US" sz="2000" dirty="0">
                <a:solidFill>
                  <a:schemeClr val="tx1"/>
                </a:solidFill>
                <a:latin typeface="Arial" panose="020B0604020202020204" pitchFamily="34" charset="0"/>
                <a:cs typeface="Arial" panose="020B0604020202020204" pitchFamily="34" charset="0"/>
              </a:rPr>
              <a:t>Global logging (Singleton)</a:t>
            </a:r>
          </a:p>
          <a:p>
            <a:pPr lvl="1">
              <a:buFont typeface="Arial" panose="020B0604020202020204" pitchFamily="34" charset="0"/>
              <a:buChar char="•"/>
            </a:pPr>
            <a:r>
              <a:rPr lang="en-US" sz="2000" dirty="0">
                <a:solidFill>
                  <a:schemeClr val="tx1"/>
                </a:solidFill>
                <a:latin typeface="Arial" panose="020B0604020202020204" pitchFamily="34" charset="0"/>
                <a:cs typeface="Arial" panose="020B0604020202020204" pitchFamily="34" charset="0"/>
              </a:rPr>
              <a:t>External system integration (Adapter)</a:t>
            </a:r>
            <a:endParaRPr lang="en-NZ" noProof="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807822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33B29E-1F86-4A90-D490-A97653919D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949BD0-1A6E-AD41-C8AE-7DCB3FC55C0D}"/>
              </a:ext>
            </a:extLst>
          </p:cNvPr>
          <p:cNvSpPr>
            <a:spLocks noGrp="1"/>
          </p:cNvSpPr>
          <p:nvPr>
            <p:ph type="title"/>
          </p:nvPr>
        </p:nvSpPr>
        <p:spPr>
          <a:xfrm>
            <a:off x="1640156" y="163862"/>
            <a:ext cx="9864456" cy="1280890"/>
          </a:xfrm>
        </p:spPr>
        <p:txBody>
          <a:bodyPr>
            <a:normAutofit/>
          </a:bodyPr>
          <a:lstStyle/>
          <a:p>
            <a:r>
              <a:rPr lang="en-NZ" sz="4000" b="1" dirty="0">
                <a:solidFill>
                  <a:srgbClr val="FF0000"/>
                </a:solidFill>
                <a:latin typeface="Arial" panose="020B0604020202020204" pitchFamily="34" charset="0"/>
                <a:cs typeface="Arial" panose="020B0604020202020204" pitchFamily="34" charset="0"/>
              </a:rPr>
              <a:t>Comparative Analysis</a:t>
            </a:r>
            <a:endParaRPr lang="en-NZ" sz="4000" b="1" noProof="0" dirty="0">
              <a:solidFill>
                <a:srgbClr val="FF0000"/>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DA43C641-C443-465C-906E-42085E330705}"/>
              </a:ext>
            </a:extLst>
          </p:cNvPr>
          <p:cNvSpPr>
            <a:spLocks noGrp="1"/>
          </p:cNvSpPr>
          <p:nvPr>
            <p:ph idx="1"/>
          </p:nvPr>
        </p:nvSpPr>
        <p:spPr>
          <a:xfrm>
            <a:off x="1640156" y="1207008"/>
            <a:ext cx="9864456" cy="5559552"/>
          </a:xfrm>
        </p:spPr>
        <p:txBody>
          <a:bodyPr>
            <a:normAutofit/>
          </a:bodyPr>
          <a:lstStyle/>
          <a:p>
            <a:pPr>
              <a:buFont typeface="Arial" panose="020B0604020202020204" pitchFamily="34" charset="0"/>
              <a:buChar char="•"/>
            </a:pPr>
            <a:r>
              <a:rPr lang="en-US" sz="2200" dirty="0">
                <a:solidFill>
                  <a:schemeClr val="tx1"/>
                </a:solidFill>
                <a:latin typeface="Arial" panose="020B0604020202020204" pitchFamily="34" charset="0"/>
                <a:cs typeface="Arial" panose="020B0604020202020204" pitchFamily="34" charset="0"/>
              </a:rPr>
              <a:t>Original design had high coupling and direct dependencies</a:t>
            </a:r>
          </a:p>
          <a:p>
            <a:pPr>
              <a:buFont typeface="Arial" panose="020B0604020202020204" pitchFamily="34" charset="0"/>
              <a:buChar char="•"/>
            </a:pPr>
            <a:r>
              <a:rPr lang="en-US" sz="2200" dirty="0">
                <a:solidFill>
                  <a:schemeClr val="tx1"/>
                </a:solidFill>
                <a:latin typeface="Arial" panose="020B0604020202020204" pitchFamily="34" charset="0"/>
                <a:cs typeface="Arial" panose="020B0604020202020204" pitchFamily="34" charset="0"/>
              </a:rPr>
              <a:t>Object creation, logging, and external systems were tightly integrated</a:t>
            </a:r>
          </a:p>
          <a:p>
            <a:pPr>
              <a:buFont typeface="Arial" panose="020B0604020202020204" pitchFamily="34" charset="0"/>
              <a:buChar char="•"/>
            </a:pPr>
            <a:r>
              <a:rPr lang="en-US" sz="2200" dirty="0">
                <a:solidFill>
                  <a:schemeClr val="tx1"/>
                </a:solidFill>
                <a:latin typeface="Arial" panose="020B0604020202020204" pitchFamily="34" charset="0"/>
                <a:cs typeface="Arial" panose="020B0604020202020204" pitchFamily="34" charset="0"/>
              </a:rPr>
              <a:t>After applying patterns:</a:t>
            </a:r>
          </a:p>
          <a:p>
            <a:pPr lvl="1">
              <a:buFont typeface="Arial" panose="020B0604020202020204" pitchFamily="34" charset="0"/>
              <a:buChar char="•"/>
            </a:pPr>
            <a:r>
              <a:rPr lang="en-US" sz="2000" dirty="0">
                <a:solidFill>
                  <a:schemeClr val="tx1"/>
                </a:solidFill>
                <a:latin typeface="Arial" panose="020B0604020202020204" pitchFamily="34" charset="0"/>
                <a:cs typeface="Arial" panose="020B0604020202020204" pitchFamily="34" charset="0"/>
              </a:rPr>
              <a:t>Responsibilities were separated into dedicated components</a:t>
            </a:r>
          </a:p>
          <a:p>
            <a:pPr lvl="1">
              <a:buFont typeface="Arial" panose="020B0604020202020204" pitchFamily="34" charset="0"/>
              <a:buChar char="•"/>
            </a:pPr>
            <a:r>
              <a:rPr lang="en-US" sz="2000" dirty="0">
                <a:solidFill>
                  <a:schemeClr val="tx1"/>
                </a:solidFill>
                <a:latin typeface="Arial" panose="020B0604020202020204" pitchFamily="34" charset="0"/>
                <a:cs typeface="Arial" panose="020B0604020202020204" pitchFamily="34" charset="0"/>
              </a:rPr>
              <a:t>Abstraction reduced dependency on concrete classes</a:t>
            </a:r>
          </a:p>
          <a:p>
            <a:pPr lvl="1">
              <a:buFont typeface="Arial" panose="020B0604020202020204" pitchFamily="34" charset="0"/>
              <a:buChar char="•"/>
            </a:pPr>
            <a:r>
              <a:rPr lang="en-US" sz="2000" dirty="0">
                <a:solidFill>
                  <a:schemeClr val="tx1"/>
                </a:solidFill>
                <a:latin typeface="Arial" panose="020B0604020202020204" pitchFamily="34" charset="0"/>
                <a:cs typeface="Arial" panose="020B0604020202020204" pitchFamily="34" charset="0"/>
              </a:rPr>
              <a:t>System became more modular and easier to extend</a:t>
            </a:r>
          </a:p>
          <a:p>
            <a:pPr>
              <a:buFont typeface="Arial" panose="020B0604020202020204" pitchFamily="34" charset="0"/>
              <a:buChar char="•"/>
            </a:pPr>
            <a:r>
              <a:rPr lang="en-US" sz="2200" dirty="0">
                <a:solidFill>
                  <a:schemeClr val="tx1"/>
                </a:solidFill>
                <a:latin typeface="Arial" panose="020B0604020202020204" pitchFamily="34" charset="0"/>
                <a:cs typeface="Arial" panose="020B0604020202020204" pitchFamily="34" charset="0"/>
              </a:rPr>
              <a:t>Key improvements:</a:t>
            </a:r>
          </a:p>
          <a:p>
            <a:pPr lvl="1">
              <a:buFont typeface="Arial" panose="020B0604020202020204" pitchFamily="34" charset="0"/>
              <a:buChar char="•"/>
            </a:pPr>
            <a:r>
              <a:rPr lang="en-US" sz="2000" dirty="0">
                <a:solidFill>
                  <a:schemeClr val="tx1"/>
                </a:solidFill>
                <a:latin typeface="Arial" panose="020B0604020202020204" pitchFamily="34" charset="0"/>
                <a:cs typeface="Arial" panose="020B0604020202020204" pitchFamily="34" charset="0"/>
              </a:rPr>
              <a:t>Higher cohesion within modules</a:t>
            </a:r>
          </a:p>
          <a:p>
            <a:pPr lvl="1">
              <a:buFont typeface="Arial" panose="020B0604020202020204" pitchFamily="34" charset="0"/>
              <a:buChar char="•"/>
            </a:pPr>
            <a:r>
              <a:rPr lang="en-US" sz="2000" dirty="0">
                <a:solidFill>
                  <a:schemeClr val="tx1"/>
                </a:solidFill>
                <a:latin typeface="Arial" panose="020B0604020202020204" pitchFamily="34" charset="0"/>
                <a:cs typeface="Arial" panose="020B0604020202020204" pitchFamily="34" charset="0"/>
              </a:rPr>
              <a:t>Lower coupling across system</a:t>
            </a:r>
          </a:p>
          <a:p>
            <a:pPr lvl="1">
              <a:buFont typeface="Arial" panose="020B0604020202020204" pitchFamily="34" charset="0"/>
              <a:buChar char="•"/>
            </a:pPr>
            <a:r>
              <a:rPr lang="en-US" sz="2000" dirty="0">
                <a:solidFill>
                  <a:schemeClr val="tx1"/>
                </a:solidFill>
                <a:latin typeface="Arial" panose="020B0604020202020204" pitchFamily="34" charset="0"/>
                <a:cs typeface="Arial" panose="020B0604020202020204" pitchFamily="34" charset="0"/>
              </a:rPr>
              <a:t>Better system structure and clarity</a:t>
            </a:r>
          </a:p>
          <a:p>
            <a:pPr>
              <a:buFont typeface="Arial" panose="020B0604020202020204" pitchFamily="34" charset="0"/>
              <a:buChar char="•"/>
            </a:pPr>
            <a:r>
              <a:rPr lang="en-US" sz="2200" dirty="0">
                <a:solidFill>
                  <a:schemeClr val="tx1"/>
                </a:solidFill>
                <a:latin typeface="Arial" panose="020B0604020202020204" pitchFamily="34" charset="0"/>
                <a:cs typeface="Arial" panose="020B0604020202020204" pitchFamily="34" charset="0"/>
              </a:rPr>
              <a:t>Trade-off:</a:t>
            </a:r>
          </a:p>
          <a:p>
            <a:pPr lvl="1">
              <a:buFont typeface="Arial" panose="020B0604020202020204" pitchFamily="34" charset="0"/>
              <a:buChar char="•"/>
            </a:pPr>
            <a:r>
              <a:rPr lang="en-US" sz="2000" dirty="0">
                <a:solidFill>
                  <a:schemeClr val="tx1"/>
                </a:solidFill>
                <a:latin typeface="Arial" panose="020B0604020202020204" pitchFamily="34" charset="0"/>
                <a:cs typeface="Arial" panose="020B0604020202020204" pitchFamily="34" charset="0"/>
              </a:rPr>
              <a:t>Increased implementation complexity due to additional abstraction layers</a:t>
            </a:r>
            <a:endParaRPr lang="en-NZ" noProof="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628290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A1668A-3C55-D35A-1F94-CB01ABD224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05A0BC-AD9B-9EDC-E484-649456C717A9}"/>
              </a:ext>
            </a:extLst>
          </p:cNvPr>
          <p:cNvSpPr>
            <a:spLocks noGrp="1"/>
          </p:cNvSpPr>
          <p:nvPr>
            <p:ph type="title"/>
          </p:nvPr>
        </p:nvSpPr>
        <p:spPr>
          <a:xfrm>
            <a:off x="1640156" y="163862"/>
            <a:ext cx="9864456" cy="1280890"/>
          </a:xfrm>
        </p:spPr>
        <p:txBody>
          <a:bodyPr>
            <a:normAutofit/>
          </a:bodyPr>
          <a:lstStyle/>
          <a:p>
            <a:r>
              <a:rPr lang="en-NZ" sz="4000" b="1" dirty="0">
                <a:solidFill>
                  <a:srgbClr val="FF0000"/>
                </a:solidFill>
                <a:latin typeface="Arial" panose="020B0604020202020204" pitchFamily="34" charset="0"/>
                <a:cs typeface="Arial" panose="020B0604020202020204" pitchFamily="34" charset="0"/>
              </a:rPr>
              <a:t>Critical Reflection</a:t>
            </a:r>
            <a:endParaRPr lang="en-NZ" sz="4000" b="1" noProof="0" dirty="0">
              <a:solidFill>
                <a:srgbClr val="FF0000"/>
              </a:solidFill>
              <a:latin typeface="Arial" panose="020B0604020202020204" pitchFamily="34" charset="0"/>
              <a:cs typeface="Arial" panose="020B0604020202020204" pitchFamily="34" charset="0"/>
            </a:endParaRPr>
          </a:p>
        </p:txBody>
      </p:sp>
      <p:sp>
        <p:nvSpPr>
          <p:cNvPr id="6" name="Content Placeholder 2">
            <a:extLst>
              <a:ext uri="{FF2B5EF4-FFF2-40B4-BE49-F238E27FC236}">
                <a16:creationId xmlns:a16="http://schemas.microsoft.com/office/drawing/2014/main" id="{35E6366F-6556-E9F9-965B-ACE1BDE052F6}"/>
              </a:ext>
            </a:extLst>
          </p:cNvPr>
          <p:cNvSpPr txBox="1">
            <a:spLocks/>
          </p:cNvSpPr>
          <p:nvPr/>
        </p:nvSpPr>
        <p:spPr>
          <a:xfrm>
            <a:off x="1640156" y="1207008"/>
            <a:ext cx="9864456" cy="5559552"/>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US" sz="2200" dirty="0">
                <a:solidFill>
                  <a:schemeClr val="tx1"/>
                </a:solidFill>
                <a:latin typeface="Arial" panose="020B0604020202020204" pitchFamily="34" charset="0"/>
                <a:cs typeface="Arial" panose="020B0604020202020204" pitchFamily="34" charset="0"/>
              </a:rPr>
              <a:t>Design patterns improved structure but introduced additional complexity</a:t>
            </a:r>
          </a:p>
          <a:p>
            <a:pPr>
              <a:buFont typeface="Arial" panose="020B0604020202020204" pitchFamily="34" charset="0"/>
              <a:buChar char="•"/>
            </a:pPr>
            <a:r>
              <a:rPr lang="en-US" sz="2200" dirty="0">
                <a:solidFill>
                  <a:schemeClr val="tx1"/>
                </a:solidFill>
                <a:latin typeface="Arial" panose="020B0604020202020204" pitchFamily="34" charset="0"/>
                <a:cs typeface="Arial" panose="020B0604020202020204" pitchFamily="34" charset="0"/>
              </a:rPr>
              <a:t>Trade-offs exist between simplicity and scalability</a:t>
            </a:r>
          </a:p>
          <a:p>
            <a:pPr>
              <a:buFont typeface="Arial" panose="020B0604020202020204" pitchFamily="34" charset="0"/>
              <a:buChar char="•"/>
            </a:pPr>
            <a:r>
              <a:rPr lang="en-US" sz="2200" dirty="0">
                <a:solidFill>
                  <a:schemeClr val="tx1"/>
                </a:solidFill>
                <a:latin typeface="Arial" panose="020B0604020202020204" pitchFamily="34" charset="0"/>
                <a:cs typeface="Arial" panose="020B0604020202020204" pitchFamily="34" charset="0"/>
              </a:rPr>
              <a:t>Singleton improves consistency but introduces global dependency risk</a:t>
            </a:r>
          </a:p>
          <a:p>
            <a:pPr>
              <a:buFont typeface="Arial" panose="020B0604020202020204" pitchFamily="34" charset="0"/>
              <a:buChar char="•"/>
            </a:pPr>
            <a:r>
              <a:rPr lang="en-US" sz="2200" dirty="0">
                <a:solidFill>
                  <a:schemeClr val="tx1"/>
                </a:solidFill>
                <a:latin typeface="Arial" panose="020B0604020202020204" pitchFamily="34" charset="0"/>
                <a:cs typeface="Arial" panose="020B0604020202020204" pitchFamily="34" charset="0"/>
              </a:rPr>
              <a:t>Factory Method increases flexibility but adds more classes</a:t>
            </a:r>
          </a:p>
          <a:p>
            <a:pPr>
              <a:buFont typeface="Arial" panose="020B0604020202020204" pitchFamily="34" charset="0"/>
              <a:buChar char="•"/>
            </a:pPr>
            <a:r>
              <a:rPr lang="en-US" sz="2200" dirty="0">
                <a:solidFill>
                  <a:schemeClr val="tx1"/>
                </a:solidFill>
                <a:latin typeface="Arial" panose="020B0604020202020204" pitchFamily="34" charset="0"/>
                <a:cs typeface="Arial" panose="020B0604020202020204" pitchFamily="34" charset="0"/>
              </a:rPr>
              <a:t>Adapter improves compatibility but increases structural layers</a:t>
            </a:r>
          </a:p>
          <a:p>
            <a:pPr>
              <a:buFont typeface="Arial" panose="020B0604020202020204" pitchFamily="34" charset="0"/>
              <a:buChar char="•"/>
            </a:pPr>
            <a:r>
              <a:rPr lang="en-US" sz="2200" dirty="0">
                <a:solidFill>
                  <a:schemeClr val="tx1"/>
                </a:solidFill>
                <a:latin typeface="Arial" panose="020B0604020202020204" pitchFamily="34" charset="0"/>
                <a:cs typeface="Arial" panose="020B0604020202020204" pitchFamily="34" charset="0"/>
              </a:rPr>
              <a:t>UML models provide guidance but do not fully match implementation</a:t>
            </a:r>
          </a:p>
          <a:p>
            <a:pPr>
              <a:buFont typeface="Arial" panose="020B0604020202020204" pitchFamily="34" charset="0"/>
              <a:buChar char="•"/>
            </a:pPr>
            <a:r>
              <a:rPr lang="en-US" sz="2200" dirty="0">
                <a:solidFill>
                  <a:schemeClr val="tx1"/>
                </a:solidFill>
                <a:latin typeface="Arial" panose="020B0604020202020204" pitchFamily="34" charset="0"/>
                <a:cs typeface="Arial" panose="020B0604020202020204" pitchFamily="34" charset="0"/>
              </a:rPr>
              <a:t>C# implementation requires refinement beyond diagram design</a:t>
            </a:r>
            <a:endParaRPr lang="en-NZ"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204939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012379-F3E1-64A7-A510-88E362CE15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6FC018-7838-D6ED-80D8-09283CA869E4}"/>
              </a:ext>
            </a:extLst>
          </p:cNvPr>
          <p:cNvSpPr>
            <a:spLocks noGrp="1"/>
          </p:cNvSpPr>
          <p:nvPr>
            <p:ph type="title"/>
          </p:nvPr>
        </p:nvSpPr>
        <p:spPr>
          <a:xfrm>
            <a:off x="1163772" y="2788555"/>
            <a:ext cx="9864456" cy="1280890"/>
          </a:xfrm>
        </p:spPr>
        <p:txBody>
          <a:bodyPr>
            <a:normAutofit/>
          </a:bodyPr>
          <a:lstStyle/>
          <a:p>
            <a:pPr algn="ctr"/>
            <a:r>
              <a:rPr lang="en-NZ" sz="5400" b="1" dirty="0">
                <a:solidFill>
                  <a:srgbClr val="FF0000"/>
                </a:solidFill>
                <a:latin typeface="Arial" panose="020B0604020202020204" pitchFamily="34" charset="0"/>
                <a:cs typeface="Arial" panose="020B0604020202020204" pitchFamily="34" charset="0"/>
              </a:rPr>
              <a:t>Thank You For Listening!</a:t>
            </a:r>
            <a:endParaRPr lang="en-NZ" sz="5400" b="1" noProof="0" dirty="0">
              <a:solidFill>
                <a:srgbClr val="FF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55752905"/>
      </p:ext>
    </p:extLst>
  </p:cSld>
  <p:clrMapOvr>
    <a:masterClrMapping/>
  </p:clrMapOvr>
</p:sld>
</file>

<file path=ppt/theme/theme1.xml><?xml version="1.0" encoding="utf-8"?>
<a:theme xmlns:a="http://schemas.openxmlformats.org/drawingml/2006/main" name="Facet">
  <a:themeElements>
    <a:clrScheme name="Blue Green">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9F6715"/>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534627d1-4b8b-4c2d-97e4-eea5c5a5ed20"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D68FEEB1ECAC3F4BBE2C0FB379E93B27" ma:contentTypeVersion="5" ma:contentTypeDescription="Create a new document." ma:contentTypeScope="" ma:versionID="03921c58ef34eb455f0c347f05354401">
  <xsd:schema xmlns:xsd="http://www.w3.org/2001/XMLSchema" xmlns:xs="http://www.w3.org/2001/XMLSchema" xmlns:p="http://schemas.microsoft.com/office/2006/metadata/properties" xmlns:ns3="534627d1-4b8b-4c2d-97e4-eea5c5a5ed20" targetNamespace="http://schemas.microsoft.com/office/2006/metadata/properties" ma:root="true" ma:fieldsID="e66730f23ee25cd35f572f8d5ac4b771" ns3:_="">
    <xsd:import namespace="534627d1-4b8b-4c2d-97e4-eea5c5a5ed20"/>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34627d1-4b8b-4c2d-97e4-eea5c5a5ed20"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_activity" ma:index="12"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8DC6E60-652D-47D9-8CE2-2CA5FBC9AC15}">
  <ds:schemaRefs>
    <ds:schemaRef ds:uri="http://schemas.microsoft.com/sharepoint/v3/contenttype/forms"/>
  </ds:schemaRefs>
</ds:datastoreItem>
</file>

<file path=customXml/itemProps2.xml><?xml version="1.0" encoding="utf-8"?>
<ds:datastoreItem xmlns:ds="http://schemas.openxmlformats.org/officeDocument/2006/customXml" ds:itemID="{05903BF7-4BF0-4AAD-BF02-77BBFDD11BBC}">
  <ds:schemaRefs>
    <ds:schemaRef ds:uri="http://purl.org/dc/dcmitype/"/>
    <ds:schemaRef ds:uri="http://www.w3.org/XML/1998/namespace"/>
    <ds:schemaRef ds:uri="http://schemas.openxmlformats.org/package/2006/metadata/core-properties"/>
    <ds:schemaRef ds:uri="http://schemas.microsoft.com/office/2006/documentManagement/types"/>
    <ds:schemaRef ds:uri="http://purl.org/dc/elements/1.1/"/>
    <ds:schemaRef ds:uri="http://schemas.microsoft.com/office/infopath/2007/PartnerControls"/>
    <ds:schemaRef ds:uri="http://schemas.microsoft.com/office/2006/metadata/properties"/>
    <ds:schemaRef ds:uri="534627d1-4b8b-4c2d-97e4-eea5c5a5ed20"/>
    <ds:schemaRef ds:uri="http://purl.org/dc/terms/"/>
  </ds:schemaRefs>
</ds:datastoreItem>
</file>

<file path=customXml/itemProps3.xml><?xml version="1.0" encoding="utf-8"?>
<ds:datastoreItem xmlns:ds="http://schemas.openxmlformats.org/officeDocument/2006/customXml" ds:itemID="{77955059-95A7-40CB-9A17-1CB21251B743}">
  <ds:schemaRefs>
    <ds:schemaRef ds:uri="534627d1-4b8b-4c2d-97e4-eea5c5a5ed2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5e022ca1-5c04-4f87-8db7-d588726274e3}" enabled="0" method="" siteId="{5e022ca1-5c04-4f87-8db7-d588726274e3}" removed="1"/>
</clbl:labelList>
</file>

<file path=docProps/app.xml><?xml version="1.0" encoding="utf-8"?>
<Properties xmlns="http://schemas.openxmlformats.org/officeDocument/2006/extended-properties" xmlns:vt="http://schemas.openxmlformats.org/officeDocument/2006/docPropsVTypes">
  <Template>Facet</Template>
  <TotalTime>281</TotalTime>
  <Words>1078</Words>
  <Application>Microsoft Office PowerPoint</Application>
  <PresentationFormat>Widescreen</PresentationFormat>
  <Paragraphs>154</Paragraphs>
  <Slides>18</Slides>
  <Notes>16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Aptos</vt:lpstr>
      <vt:lpstr>Aptos Slab SemiBold</vt:lpstr>
      <vt:lpstr>Arial</vt:lpstr>
      <vt:lpstr>Trebuchet MS</vt:lpstr>
      <vt:lpstr>Wingdings 3</vt:lpstr>
      <vt:lpstr>Facet</vt:lpstr>
      <vt:lpstr>AUT Course Enrolment System Phase 2</vt:lpstr>
      <vt:lpstr>Phase 1’s Class Diagram</vt:lpstr>
      <vt:lpstr>Refined Class Diagram</vt:lpstr>
      <vt:lpstr>Sequence Diagrams</vt:lpstr>
      <vt:lpstr>Sequence Diagram - Student Login</vt:lpstr>
      <vt:lpstr>Sequence Diagram - Course Selection &amp; Enrolment</vt:lpstr>
      <vt:lpstr>Sequence Diagram - Enrolment Review &amp; Approval</vt:lpstr>
      <vt:lpstr>Activity Diagrams</vt:lpstr>
      <vt:lpstr>Activity Diagram -Student Enrolment</vt:lpstr>
      <vt:lpstr>Activity Diagram - Registry Approval</vt:lpstr>
      <vt:lpstr>Design Patterns</vt:lpstr>
      <vt:lpstr>Factory Method Pattern</vt:lpstr>
      <vt:lpstr>Singleton Pattern</vt:lpstr>
      <vt:lpstr>Adapter Pattern</vt:lpstr>
      <vt:lpstr>Overall Design Improvements</vt:lpstr>
      <vt:lpstr>Comparative Analysis</vt:lpstr>
      <vt:lpstr>Critical Reflection</vt:lpstr>
      <vt:lpstr>Thank You For Listening!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Elwin Schaaf</dc:creator>
  <cp:lastModifiedBy>Thanh Tran</cp:lastModifiedBy>
  <cp:revision>25</cp:revision>
  <dcterms:created xsi:type="dcterms:W3CDTF">2025-08-20T04:14:43Z</dcterms:created>
  <dcterms:modified xsi:type="dcterms:W3CDTF">2026-05-31T07:35:53Z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0x010100D68FEEB1ECAC3F4BBE2C0FB379E93B27</vt:lpwstr>
  </property>
</Properties>
</file>